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맑은 고딕"/>
              </a:defRPr>
            </a:pPr>
            <a:r>
              <a:t>매뉴얼 RAG AI 구축 성과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수작업 매뉴얼 관리에서 AI 자동 생성 · 의미 검색 체계로의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(주)윈텍오토메이션 생산관리팀 (AI운영팀)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2026년 4월 월간회의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추진 배경 &amp; AS-IS / TO-BE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맑은 고딕"/>
              </a:defRPr>
            </a:pPr>
            <a:r>
              <a:t>수작업 매뉴얼 관리 → AI 자동 생성 체계로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2026-04 · (주)윈텍오토메이션 생산관리팀(AI운영팀)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444444"/>
                </a:solidFill>
                <a:latin typeface="맑은 고딕"/>
              </a:rPr>
              <a:t>장비 사용자 매뉴얼·안전 스티커·제품 데이터시트·CS 응대 기록을</a:t>
            </a:r>
            <a:r>
              <a:rPr sz="1400" b="1">
                <a:solidFill>
                  <a:srgbClr val="CC0000"/>
                </a:solidFill>
                <a:latin typeface="맑은 고딕"/>
              </a:rPr>
              <a:t>담당자 개인이 수작업</a:t>
            </a:r>
            <a:r>
              <a:rPr sz="1400" b="0">
                <a:solidFill>
                  <a:srgbClr val="444444"/>
                </a:solidFill>
                <a:latin typeface="맑은 고딕"/>
              </a:rPr>
              <a:t>으로 관리해 왔으며, AI가 학습하여</a:t>
            </a:r>
            <a:r>
              <a:rPr sz="1400" b="1">
                <a:solidFill>
                  <a:srgbClr val="CC0000"/>
                </a:solidFill>
                <a:latin typeface="맑은 고딕"/>
              </a:rPr>
              <a:t>자동 생성·의미 검색·다국어 대응</a:t>
            </a:r>
            <a:r>
              <a:rPr sz="1400" b="0">
                <a:solidFill>
                  <a:srgbClr val="444444"/>
                </a:solidFill>
                <a:latin typeface="맑은 고딕"/>
              </a:rPr>
              <a:t>하는 체계로 전환을 완료했습니다.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5212080" cy="1572768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Before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담당자 1명이 장비별 매뉴얼 직접 작성 —수일~수주소요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PDF·Word 파일 개인 PC/공유폴더 분산 저장,파일명검색 의존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부품 사양·품명 변경 시수동 갱신필요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번역은 외주 또는 수작업, 영/중 매뉴얼 별도 관리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CS 응대 시 엔지니어에게재문의 → 회신 대기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담당자 편차·퇴사 시 개인 지식 소실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54864" cy="15727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377440"/>
            <a:ext cx="5212080" cy="1572768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After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유사 장비·부품 매뉴얼 기반초안 즉시 자동 생성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PostgreSQL pgvector 중앙 저장,자연어 질의가능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한·영·중동일 벡터 공간통합 검색, 언어 변환 자동화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슬랙 #cs 봇이 과거 이력 기반1차 자동 답변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부품·사양 변경 시 신규 문서만 재임베딩 →일관성 유지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전 직원·해외법인·신입 사원동일 수준 조회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4864" cy="15727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41648"/>
            <a:ext cx="10698480" cy="521207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전환 성과 요약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매뉴얼 작성·CS 응대업무 리드타임 단축, 담당자 의존도 감소 · 직원 개인 경험 →회사 벡터 자산으로 축적, 다국어·해외법인 동시 대응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41648"/>
            <a:ext cx="54864" cy="521207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RAG 시스템 구조 &amp; 핵심 성과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011680" cy="822960"/>
          </a:xfrm>
          <a:prstGeom prst="rect">
            <a:avLst/>
          </a:prstGeom>
          <a:solidFill>
            <a:srgbClr val="F8F8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222222"/>
                </a:solidFill>
                <a:latin typeface="맑은 고딕"/>
              </a:defRPr>
            </a:pPr>
          </a:p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원문PDF·DOCX·HTML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00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2011680" cy="822960"/>
          </a:xfrm>
          <a:prstGeom prst="rect">
            <a:avLst/>
          </a:prstGeom>
          <a:solidFill>
            <a:srgbClr val="F8F8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222222"/>
                </a:solidFill>
                <a:latin typeface="맑은 고딕"/>
              </a:defRPr>
            </a:pPr>
          </a:p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Docling 파싱텍스트·표·이미지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00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188720"/>
            <a:ext cx="2011680" cy="822960"/>
          </a:xfrm>
          <a:prstGeom prst="rect">
            <a:avLst/>
          </a:prstGeom>
          <a:solidFill>
            <a:srgbClr val="F8F8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222222"/>
                </a:solidFill>
                <a:latin typeface="맑은 고딕"/>
              </a:defRPr>
            </a:pPr>
          </a:p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청킹·벡터화Qwen3-Embedding-8B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371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00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188720"/>
            <a:ext cx="2011680" cy="822960"/>
          </a:xfrm>
          <a:prstGeom prst="rect">
            <a:avLst/>
          </a:prstGeom>
          <a:solidFill>
            <a:srgbClr val="F8F8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222222"/>
                </a:solidFill>
                <a:latin typeface="맑은 고딕"/>
              </a:defRPr>
            </a:pPr>
          </a:p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pgvectorPostgreSQL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371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00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1188720"/>
            <a:ext cx="2011680" cy="822960"/>
          </a:xfrm>
          <a:prstGeom prst="rect">
            <a:avLst/>
          </a:prstGeom>
          <a:solidFill>
            <a:srgbClr val="F8F8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222222"/>
                </a:solidFill>
                <a:latin typeface="맑은 고딕"/>
              </a:defRPr>
            </a:pPr>
          </a:p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AI 답변의미 검색+LLM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C0000"/>
                </a:solidFill>
                <a:latin typeface="맑은 고딕"/>
              </a:defRPr>
            </a:pPr>
            <a:r>
              <a:t>1,482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537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학습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6140" y="214884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맑은 고딕"/>
              </a:defRPr>
            </a:pPr>
            <a:r>
              <a:t>389K+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6140" y="2697480"/>
            <a:ext cx="2537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벡터 청크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14884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맑은 고딕"/>
              </a:defRPr>
            </a:pPr>
            <a: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697480"/>
            <a:ext cx="2537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임베딩 차원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5379" y="214884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5100"/>
                </a:solidFill>
                <a:latin typeface="맑은 고딕"/>
              </a:defRPr>
            </a:pPr>
            <a:r>
              <a:t>91%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5379" y="2697480"/>
            <a:ext cx="2537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임베딩 진행률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03320"/>
            <a:ext cx="3429000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부품 매뉴얼 (외부)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파싱892 / 892완료 (100%)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임베딩810 / 892(91%) — 265,635 청크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로봇·서보·센서·HMI·PLC 8개 카테고리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테이블:manual.documents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03320"/>
            <a:ext cx="54864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703320"/>
            <a:ext cx="3429000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CS 이력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임베딩3,318 / 3,318완료 (100%)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슬랙 #cs 봇 실전 투입, 고객 질의 자동 매칭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엔지니어 회신 초안 즉시 생성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테이블:csagent.vector_embeddings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703320"/>
            <a:ext cx="54864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3703320"/>
            <a:ext cx="3429000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WTA 자체 매뉴얼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수집590완료, 파싱321/590(54%)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120,084 청크 확보, Docling 고품질 파서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4~5월 내 파싱 100% 목표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테이블:manual.wta_documents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703320"/>
            <a:ext cx="54864" cy="1280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444444"/>
                </a:solidFill>
                <a:latin typeface="맑은 고딕"/>
              </a:rPr>
              <a:t>인프라: PostgreSQL pgvector · 임베딩 Qwen3-Embedding-8B · 파서 Docling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실 업무 활용 &amp;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현재 활용 중 (실운영)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CS 자동 응대— 슬랙 #cs 봇이 고객 질의에 1차 답변, 엔지니어는 검수·보완만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매뉴얼 초안 생성— 유사 장비·부품 매뉴얼 기반 자동 작성 → 편집 후 릴리스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사내 지식 검색— 전 직원 자연어 질의, 신규 입사자 온보딩 단축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다국어 대응— 해외 7개국 60+ 고객사, 한·영·중 통합 검색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부품 사양 조회— 로봇·서보·센서·HMI·PLC 전 카테고리 즉시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2801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188720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향후 계획 (2026 2Q 로드맵)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4월: 부품 매뉴얼 임베딩 100% 완료 (잔여 82개)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4~5월: WTA 자체 매뉴얼 파싱 100% (321→590개)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5월: QC 체크리스트 벡터화 착수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5월: 안전 스티커·경고 라벨 표준화 템플릿 학습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6월: Confluence·Jira RAG 3단계 파이프라인 통합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6월: 매뉴얼 자동 생성 파이프라인 안정화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188720"/>
            <a:ext cx="54864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698480" cy="923544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부서장 확인·승인 요청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임베딩 서버(Qwen3-Embedding-8B)이중화필요성 검토 — 현재 단일 서버 의존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장비 매뉴얼 AI 초안 → 최종 검수 프로세스공식 워크플로우 확정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QC 체크리스트 벡터화 범위 확정 — 출하검사 기준서 포함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54864" cy="92354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실제 생성된 매뉴얼 견본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444444"/>
                </a:solidFill>
                <a:latin typeface="맑은 고딕"/>
              </a:rPr>
              <a:t>RAG 시스템으로 자동 파싱·구조화된 매뉴얼 사례 — 원문 PDF에서 텍스트·표·이미지를 추출하고 벡터 임베딩까지 완료된 문서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698480" cy="521207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파싱 품질: Docling 엔진으로 표·수식·다단 레이아웃 정확 추출 |벡터 검색 정확도: cosine similarity 기반 Top-5 매칭, 기술 용어 정밀 대응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4864" cy="521207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