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333333"/>
                </a:solidFill>
                <a:latin typeface="맑은 고딕"/>
              </a:defRPr>
            </a:pPr>
            <a:r>
              <a:t>사내 CS AI 챗봇 시스템</a:t>
            </a:r>
            <a:br/>
            <a:r>
              <a:t>구축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맑은 고딕"/>
              </a:defRPr>
            </a:pPr>
            <a:r>
              <a:t>데이터 학습 현황 및 운영 성과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(주)윈텍오토메이션 생산관리팀 (AI운영팀)</a:t>
            </a:r>
          </a:p>
          <a:p>
            <a:pPr>
              <a:spcAft>
                <a:spcPts val="420"/>
              </a:spcAft>
              <a:defRPr sz="1400" b="0">
                <a:solidFill>
                  <a:srgbClr val="888888"/>
                </a:solidFill>
                <a:latin typeface="맑은 고딕"/>
              </a:defRPr>
            </a:pPr>
            <a:r>
              <a:t>2026년 4월 2일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CC0000"/>
                </a:solidFill>
                <a:latin typeface="맑은 고딕"/>
              </a:defRPr>
            </a:pPr>
            <a:r>
              <a:t>시스템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목적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CS 기술지원 응답 자동화 — 축적된 장비 노하우 데이터를 AI가 즉시 검색·응답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슬랙 기반 실시간 소통 — 직원이 평소 쓰는 채널에서 바로 질문, AI가 바로 답변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4864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2222"/>
                </a:solidFill>
                <a:latin typeface="맑은 고딕"/>
              </a:defRPr>
            </a:pPr>
            <a:r>
              <a:t>시스템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맑은 고딕"/>
              </a:defRPr>
            </a:pPr>
            <a:r>
              <a:t>💬 슬랙 → 🤖 slack-bot (Haiku) → 🛠️ cs-agent (Opus) → 📊 RAG 벡터검색 → 💬 슬랙 자동 응답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맑은 고딕"/>
              </a:defRPr>
            </a:pPr>
            <a:r>
              <a:t>📊 데이터 소스: CS이력 265K 청크 | WTA매뉴얼 120K 청크 | 기술문서 2K 청크 | 부품매뉴얼 633 청크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840480"/>
            <a:ext cx="5303520" cy="146304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통신 방식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P2P HTTP 직접통신 (중앙 서버 불필요)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오프라인 메시지 큐 (자동 재전달)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에이전트 간 MCP 채널 연동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40480"/>
            <a:ext cx="54864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3840480"/>
            <a:ext cx="5303520" cy="146304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멀티모델 파이프라인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Haiku — 접수·라우팅 (빠른 분류)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Opus — 고급 기술응답 (이미지 분석)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Sonnet — 일반 업무처리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840480"/>
            <a:ext cx="54864" cy="14630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CC0000"/>
                </a:solidFill>
                <a:latin typeface="맑은 고딕"/>
              </a:defRPr>
            </a:pPr>
            <a:r>
              <a:t>데이터 학습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C0000"/>
                </a:solidFill>
                <a:latin typeface="맑은 고딕"/>
              </a:defRPr>
            </a:pPr>
            <a:r>
              <a:t>9.3GB+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맑은 고딕"/>
              </a:defRPr>
            </a:pPr>
            <a:r>
              <a:t>벡터 DB 총 용량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565C0"/>
                </a:solidFill>
                <a:latin typeface="맑은 고딕"/>
              </a:defRPr>
            </a:pPr>
            <a:r>
              <a:t>391,000+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맑은 고딕"/>
              </a:defRPr>
            </a:pPr>
            <a:r>
              <a:t>총 벡터 청크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188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  <a:latin typeface="맑은 고딕"/>
              </a:defRPr>
            </a:pPr>
            <a:r>
              <a:t>99.7%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맑은 고딕"/>
              </a:defRPr>
            </a:pPr>
            <a:r>
              <a:t>임베딩 완료율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468880"/>
          <a:ext cx="10515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데이터셋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청크 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용량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CS이력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265,635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6.1GB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WTA 자체 매뉴얼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120,492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3.1GB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완료 (656/656)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기술문서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2,095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부품매뉴얼 (892개)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CS이력 원본 임베딩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3,318건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4846320"/>
            <a:ext cx="1051560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임베딩 모델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Qwen3-Embedding-8B (2000차원) — 한국어·영어·중국어 고성능 임베딩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PostgreSQL pgvector 기반 코사인 유사도 Top-K 검색 — 벡터 인덱스 최적화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54864" cy="914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CC0000"/>
                </a:solidFill>
                <a:latin typeface="맑은 고딕"/>
              </a:defRPr>
            </a:pPr>
            <a:r>
              <a:t>슬랙 채널별 AI 자동 라우팅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맑은 고딕"/>
              </a:defRPr>
            </a:pPr>
            <a:r>
              <a:t>각 슬랙 채널에 전담 AI 에이전트를 배치하여, 직원 대화가 자동으로 업무 데이터로 전환됩니다.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슬랙 채널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AI 에이전트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🛠️ cs-agent (Opus)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CS 기술지원 — RAG 검색 + 이미지 분석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#부적합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🔍 nc-manager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LLM 자동판단 → MES 부적합 등록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#영업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💰 sales-agent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수주·견적·매출 조회 및 분석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💻 dev-agent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MES 버그 리포트·기능 요청 처리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📝 docs-agent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문서 작성·번역·매뉴얼 검색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#제어-*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⚡ control-agent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개인별 제어설계 기술지원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#admin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📋 admin-agent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인프라 모니터링·계정 관리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389120"/>
            <a:ext cx="10515600" cy="164592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핵심 비전: 직원 대화 → AI 자동 수집 → 정형 데이터 → MES DB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직원이 슬랙에서 자연스럽게 대화하면, AI가 자동으로 구조화된 데이터를 생성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부적합 보고서, CS 이력, 장비 이슈 등이 수동 입력 없이 MES에 축적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현실 직원 → AI 데이터 채널 확보 (전사 핵심 과제)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389120"/>
            <a:ext cx="54864" cy="1645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CC0000"/>
                </a:solidFill>
                <a:latin typeface="맑은 고딕"/>
              </a:defRPr>
            </a:pPr>
            <a:r>
              <a:t>운영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C0000"/>
                </a:solidFill>
                <a:latin typeface="맑은 고딕"/>
              </a:defRPr>
            </a:pPr>
            <a:r>
              <a:t>154건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맑은 고딕"/>
              </a:defRPr>
            </a:pPr>
            <a:r>
              <a:t>CS 챗봇 세션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565C0"/>
                </a:solidFill>
                <a:latin typeface="맑은 고딕"/>
              </a:defRPr>
            </a:pPr>
            <a:r>
              <a:t>614건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맑은 고딕"/>
              </a:defRPr>
            </a:pPr>
            <a:r>
              <a:t>처리 메시지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188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E7D32"/>
                </a:solidFill>
                <a:latin typeface="맑은 고딕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맑은 고딕"/>
              </a:defRPr>
            </a:pPr>
            <a:r>
              <a:t>긍정 피드백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5303520" cy="292608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Before (기존 방식)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✗ CS 응답: 수 시간 ~ 1일 소요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✗ 매뉴얼 검색: 수십 개 PDF 수동 탐색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✗ 부적합 등록: 수동 양식 작성 (5~10분)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✗ 기술 노하우: 특정 담당자 의존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✗ 야간/주말: 응답 불가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54864" cy="2926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377440"/>
            <a:ext cx="5303520" cy="292608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After (AI 챗봇)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✓ CS 응답: 수 분 이내 자동 응답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✓ RAG 검색: 39만 청크 즉시 탐색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✓ 부적합: 슬랙 대화에서 자동 파싱·등록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✓ 노하우: AI에 축적, 누구나 접근 가능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✓ 24/7: 야간·주말 무인 응답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377440"/>
            <a:ext cx="54864" cy="2926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맑은 고딕"/>
              </a:defRPr>
            </a:pPr>
            <a:r>
              <a:t>운영 기간: 2025년 5월 ~ 2026년 3월 (11개월)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CC0000"/>
                </a:solidFill>
                <a:latin typeface="맑은 고딕"/>
              </a:defRPr>
            </a:pPr>
            <a:r>
              <a:t>부적합 자동 등록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맑은 고딕"/>
              </a:defRPr>
            </a:pPr>
            <a:r>
              <a:t>슬랙 #부적합 채널에서 직원이 보고하면, AI가 자동으로 구조화하여 MES에 등록합니다.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286000" cy="822960"/>
          </a:xfrm>
          <a:prstGeom prst="rect">
            <a:avLst/>
          </a:prstGeom>
          <a:solidFill>
            <a:srgbClr val="F8F8F8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565C0"/>
                </a:solidFill>
                <a:latin typeface="맑은 고딕"/>
              </a:defRPr>
            </a:pPr>
            <a:r>
              <a:t>① 직원 보고</a:t>
            </a:r>
          </a:p>
          <a:p>
            <a:pPr algn="ctr">
              <a:defRPr sz="1000">
                <a:solidFill>
                  <a:srgbClr val="333333"/>
                </a:solidFill>
                <a:latin typeface="맑은 고딕"/>
              </a:defRPr>
            </a:pPr>
            <a:r>
              <a:t>#부적합에 자유 형식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C000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737360"/>
            <a:ext cx="2286000" cy="822960"/>
          </a:xfrm>
          <a:prstGeom prst="rect">
            <a:avLst/>
          </a:prstGeom>
          <a:solidFill>
            <a:srgbClr val="F8F8F8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65100"/>
                </a:solidFill>
                <a:latin typeface="맑은 고딕"/>
              </a:defRPr>
            </a:pPr>
            <a:r>
              <a:t>② AI 파싱</a:t>
            </a:r>
          </a:p>
          <a:p>
            <a:pPr algn="ctr">
              <a:defRPr sz="1000">
                <a:solidFill>
                  <a:srgbClr val="333333"/>
                </a:solidFill>
                <a:latin typeface="맑은 고딕"/>
              </a:defRPr>
            </a:pPr>
            <a:r>
              <a:t>장비·모델·증상 자동 분류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C000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2286000" cy="822960"/>
          </a:xfrm>
          <a:prstGeom prst="rect">
            <a:avLst/>
          </a:prstGeom>
          <a:solidFill>
            <a:srgbClr val="F8F8F8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7D32"/>
                </a:solidFill>
                <a:latin typeface="맑은 고딕"/>
              </a:defRPr>
            </a:pPr>
            <a:r>
              <a:t>③ MES 등록</a:t>
            </a:r>
          </a:p>
          <a:p>
            <a:pPr algn="ctr">
              <a:defRPr sz="1000">
                <a:solidFill>
                  <a:srgbClr val="333333"/>
                </a:solidFill>
                <a:latin typeface="맑은 고딕"/>
              </a:defRPr>
            </a:pPr>
            <a:r>
              <a:t>부적합 테이블 자동 INSERT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C0000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737360"/>
            <a:ext cx="2286000" cy="822960"/>
          </a:xfrm>
          <a:prstGeom prst="rect">
            <a:avLst/>
          </a:prstGeom>
          <a:solidFill>
            <a:srgbClr val="F8F8F8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C0000"/>
                </a:solidFill>
                <a:latin typeface="맑은 고딕"/>
              </a:defRPr>
            </a:pPr>
            <a:r>
              <a:t>④ 알림</a:t>
            </a:r>
          </a:p>
          <a:p>
            <a:pPr algn="ctr">
              <a:defRPr sz="1000">
                <a:solidFill>
                  <a:srgbClr val="333333"/>
                </a:solidFill>
                <a:latin typeface="맑은 고딕"/>
              </a:defRPr>
            </a:pPr>
            <a:r>
              <a:t>담당자 자동 알림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3017520"/>
          <a:ext cx="10515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기존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AI 적용 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55555"/>
                          </a:solidFill>
                          <a:latin typeface="맑은 고딕"/>
                        </a:defRPr>
                      </a:pPr>
                      <a:r>
                        <a:t>개선율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등록 소요시간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5~10분 (수동)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30초 이내 (자동)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95% 단축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누락률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20~30% 추정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0% (전수 등록)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100% 개선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데이터 표준화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담당자별 상이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100% 표준 양식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완전 표준화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축적 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684건 (부적합 보고서)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지속 자동 누적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실시간 축적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CC0000"/>
                </a:solidFill>
                <a:latin typeface="맑은 고딕"/>
              </a:defRPr>
            </a:pPr>
            <a:r>
              <a:t>향후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394960" cy="21945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멀티모델 파이프라인 고도화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Haiku: 접수·라우팅 (빠른 분류)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Opus: 이미지 분석 (장비 사진·도면)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Sonnet: 일반 기술응답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→ 비용 최적화 + 품질 극대화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4864" cy="21945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394960" cy="21945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JSONL 축적 → 자가학습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모든 CS 세션을 JSONL 로그로 축적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반복 패턴 자동 추출 → 스킬 생성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시간이 갈수록 응답 정확도 향상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→ 운영할수록 똑똑해지는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" cy="21945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5394960" cy="21945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다국어 CS 대응 강화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7개국 60+ 고객사 기술지원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중국/일본/유럽 고객사 직접 응답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매뉴얼 자동 번역 (한↔영↔중)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→ 해외 CS 대응시간 혁신적 단축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49039"/>
            <a:ext cx="54864" cy="2194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3749039"/>
            <a:ext cx="5394960" cy="219456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300" b="1">
                <a:solidFill>
                  <a:srgbClr val="222222"/>
                </a:solidFill>
                <a:latin typeface="맑은 고딕"/>
              </a:defRPr>
            </a:pPr>
            <a:r>
              <a:t>학습 데이터 완성도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부품매뉴얼: 892/892개 (100%)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WTA매뉴얼: 656/656파일 (99.7%)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• CS이력: 3,318건 임베딩 완료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  <a:latin typeface="맑은 고딕"/>
              </a:defRPr>
            </a:pPr>
            <a:r>
              <a:t>→ 핵심 데이터 학습 거의 완료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749039"/>
            <a:ext cx="54864" cy="2194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