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62"/>
            <a:ext cx="9144000" cy="5141375"/>
          </a:xfrm>
          <a:prstGeom prst="roundRect">
            <a:avLst>
              <a:gd name="adj" fmla="val 118"/>
            </a:avLst>
          </a:prstGeom>
          <a:ln/>
          <a:effectLst>
            <a:outerShdw sx="100000" sy="100000" kx="0" ky="0" algn="bl" rotWithShape="0" blurRad="101978" dist="16996" dir="540000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10884" y="1707595"/>
            <a:ext cx="3067829" cy="74783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58"/>
              </a:lnSpc>
              <a:spcAft>
                <a:spcPts val="669"/>
              </a:spcAft>
              <a:buNone/>
            </a:pPr>
            <a:r>
              <a:rPr lang="en-US" sz="22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CS AI 챗봇 시스템</a:t>
            </a:r>
            <a:pPr algn="l" indent="0" marL="0">
              <a:buNone/>
            </a:pPr>
            <a:endParaRPr lang="en-US" sz="2200" dirty="0"/>
          </a:p>
          <a:p>
            <a:pPr algn="l" indent="0" marL="0">
              <a:lnSpc>
                <a:spcPts val="2958"/>
              </a:lnSpc>
              <a:spcAft>
                <a:spcPts val="669"/>
              </a:spcAft>
              <a:buNone/>
            </a:pPr>
            <a:r>
              <a:rPr lang="en-US" sz="22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구축 보고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8361" y="2542007"/>
            <a:ext cx="2107539" cy="22945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7"/>
              </a:lnSpc>
              <a:spcAft>
                <a:spcPts val="1874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학습 현황 및 구축 성과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9490" y="3010998"/>
            <a:ext cx="2243509" cy="42490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86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(주)윈텍오토메이션 생산관리팀 (AI운영팀)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lnSpc>
                <a:spcPts val="1686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4월 2일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62"/>
            <a:ext cx="9144000" cy="5141375"/>
          </a:xfrm>
          <a:prstGeom prst="roundRect">
            <a:avLst>
              <a:gd name="adj" fmla="val 118"/>
            </a:avLst>
          </a:prstGeom>
          <a:ln/>
          <a:effectLst>
            <a:outerShdw sx="100000" sy="100000" kx="0" ky="0" algn="bl" rotWithShape="0" blurRad="101978" dist="16996" dir="540000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39063" y="178461"/>
            <a:ext cx="1776112" cy="280439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Bef>
                <a:spcPts val="736"/>
              </a:spcBef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개요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9926" y="1001054"/>
            <a:ext cx="8464149" cy="764833"/>
          </a:xfrm>
          <a:prstGeom prst="roundRect">
            <a:avLst>
              <a:gd name="adj" fmla="val 1993"/>
            </a:avLst>
          </a:prstGeom>
          <a:solidFill>
            <a:srgbClr val="F8F8F8"/>
          </a:solidFill>
          <a:ln/>
        </p:spPr>
      </p:sp>
      <p:sp>
        <p:nvSpPr>
          <p:cNvPr id="5" name="Text 3"/>
          <p:cNvSpPr/>
          <p:nvPr/>
        </p:nvSpPr>
        <p:spPr>
          <a:xfrm>
            <a:off x="492892" y="1096260"/>
            <a:ext cx="8183710" cy="15296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68"/>
              </a:spcAft>
              <a:buNone/>
            </a:pPr>
            <a:r>
              <a:rPr lang="en-US" sz="9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목적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92892" y="1282356"/>
            <a:ext cx="8183710" cy="178461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92"/>
              </a:lnSpc>
              <a:spcAft>
                <a:spcPts val="134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 기술지원 응답 자동화 — 축적된 장비 노하우 데이터를 AI가 즉시 검색·응답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92892" y="1476087"/>
            <a:ext cx="8183710" cy="178461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92"/>
              </a:lnSpc>
              <a:spcAft>
                <a:spcPts val="134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슬랙 기반 실시간 소통 — 직원이 평소 쓰는 채널에서 바로 질문, AI가 바로 답변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39926" y="1830022"/>
            <a:ext cx="8464149" cy="22095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6"/>
              </a:lnSpc>
              <a:buNone/>
            </a:pPr>
            <a:r>
              <a:rPr lang="en-US" sz="10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아키텍처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9926" y="2116834"/>
            <a:ext cx="8464149" cy="1801606"/>
          </a:xfrm>
          <a:prstGeom prst="roundRect">
            <a:avLst>
              <a:gd name="adj" fmla="val 1436"/>
            </a:avLst>
          </a:prstGeom>
          <a:solidFill>
            <a:srgbClr val="F8F8F8"/>
          </a:solidFill>
          <a:ln w="8498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7398" y="2295295"/>
            <a:ext cx="8209204" cy="688349"/>
          </a:xfrm>
          <a:prstGeom prst="roundRect">
            <a:avLst>
              <a:gd name="adj" fmla="val 2460"/>
            </a:avLst>
          </a:prstGeom>
          <a:ln w="8498">
            <a:solidFill>
              <a:srgbClr val="CCCCCC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560877" y="2388774"/>
            <a:ext cx="8022245" cy="12747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1"/>
              </a:spcAft>
              <a:buNone/>
            </a:pPr>
            <a:r>
              <a:rPr lang="en-US" sz="700" b="1" spc="67" kern="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🏢 WTA 사내 서버 — 전체 처리 흐름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00779" y="2592730"/>
            <a:ext cx="1385197" cy="271941"/>
          </a:xfrm>
          <a:prstGeom prst="roundRect">
            <a:avLst>
              <a:gd name="adj" fmla="val 15762"/>
            </a:avLst>
          </a:prstGeom>
          <a:solidFill>
            <a:srgbClr val="FFF3E0"/>
          </a:solidFill>
          <a:ln w="8498">
            <a:solidFill>
              <a:srgbClr val="FFCC8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spcBef>
                <a:spcPts val="201"/>
              </a:spcBef>
              <a:spcAft>
                <a:spcPts val="201"/>
              </a:spcAft>
              <a:buNone/>
            </a:pPr>
            <a:r>
              <a:rPr lang="en-US" sz="800" b="1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💬 슬랙 (Socket Mode)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060799" y="2605477"/>
            <a:ext cx="186959" cy="24644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324972" y="2592730"/>
            <a:ext cx="1257725" cy="271941"/>
          </a:xfrm>
          <a:prstGeom prst="roundRect">
            <a:avLst>
              <a:gd name="adj" fmla="val 15762"/>
            </a:avLst>
          </a:prstGeom>
          <a:solidFill>
            <a:srgbClr val="E3F2FD"/>
          </a:solidFill>
          <a:ln w="8498">
            <a:solidFill>
              <a:srgbClr val="90CAF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spcBef>
                <a:spcPts val="201"/>
              </a:spcBef>
              <a:spcAft>
                <a:spcPts val="201"/>
              </a:spcAft>
              <a:buNone/>
            </a:pPr>
            <a:r>
              <a:rPr lang="en-US" sz="800" b="1" dirty="0">
                <a:solidFill>
                  <a:srgbClr val="1565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🤖 slack-bot (Haiku)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9910" y="2605477"/>
            <a:ext cx="186959" cy="24644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923685" y="2592730"/>
            <a:ext cx="1206736" cy="271941"/>
          </a:xfrm>
          <a:prstGeom prst="roundRect">
            <a:avLst>
              <a:gd name="adj" fmla="val 15762"/>
            </a:avLst>
          </a:prstGeom>
          <a:solidFill>
            <a:srgbClr val="FFEBEE"/>
          </a:solidFill>
          <a:ln w="8498">
            <a:solidFill>
              <a:srgbClr val="EF9A9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spcBef>
                <a:spcPts val="201"/>
              </a:spcBef>
              <a:spcAft>
                <a:spcPts val="201"/>
              </a:spcAft>
              <a:buNone/>
            </a:pPr>
            <a:r>
              <a:rPr lang="en-US" sz="8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🛠️ cs-agent (Opus)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207236" y="2605477"/>
            <a:ext cx="186959" cy="24644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71542" y="2592730"/>
            <a:ext cx="1614647" cy="271941"/>
          </a:xfrm>
          <a:prstGeom prst="roundRect">
            <a:avLst>
              <a:gd name="adj" fmla="val 15762"/>
            </a:avLst>
          </a:prstGeom>
          <a:solidFill>
            <a:srgbClr val="E8F5E9"/>
          </a:solidFill>
          <a:ln w="8498">
            <a:solidFill>
              <a:srgbClr val="A5D6A7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spcBef>
                <a:spcPts val="201"/>
              </a:spcBef>
              <a:spcAft>
                <a:spcPts val="201"/>
              </a:spcAft>
              <a:buNone/>
            </a:pPr>
            <a:r>
              <a:rPr lang="en-US" sz="8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 RAG 벡터검색 (pgvector)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163535" y="2605477"/>
            <a:ext cx="186959" cy="24644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27575" y="2592730"/>
            <a:ext cx="1113257" cy="271941"/>
          </a:xfrm>
          <a:prstGeom prst="roundRect">
            <a:avLst>
              <a:gd name="adj" fmla="val 15762"/>
            </a:avLst>
          </a:prstGeom>
          <a:solidFill>
            <a:srgbClr val="FFF3E0"/>
          </a:solidFill>
          <a:ln w="8498">
            <a:solidFill>
              <a:srgbClr val="FFCC8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spcBef>
                <a:spcPts val="201"/>
              </a:spcBef>
              <a:spcAft>
                <a:spcPts val="201"/>
              </a:spcAft>
              <a:buNone/>
            </a:pPr>
            <a:r>
              <a:rPr lang="en-US" sz="800" b="1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💬 슬랙 자동 응답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67398" y="3051629"/>
            <a:ext cx="8209204" cy="688349"/>
          </a:xfrm>
          <a:prstGeom prst="roundRect">
            <a:avLst>
              <a:gd name="adj" fmla="val 2460"/>
            </a:avLst>
          </a:prstGeom>
          <a:ln w="8498">
            <a:solidFill>
              <a:srgbClr val="CCCCCC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560877" y="3145109"/>
            <a:ext cx="8022245" cy="12747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1"/>
              </a:spcAft>
              <a:buNone/>
            </a:pPr>
            <a:r>
              <a:rPr lang="en-US" sz="700" b="1" spc="67" kern="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 데이터 소스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86372" y="3349064"/>
            <a:ext cx="1240729" cy="271941"/>
          </a:xfrm>
          <a:prstGeom prst="roundRect">
            <a:avLst>
              <a:gd name="adj" fmla="val 15762"/>
            </a:avLst>
          </a:prstGeom>
          <a:solidFill>
            <a:srgbClr val="E8F5E9"/>
          </a:solidFill>
          <a:ln w="8498">
            <a:solidFill>
              <a:srgbClr val="A5D6A7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spcBef>
                <a:spcPts val="201"/>
              </a:spcBef>
              <a:spcAft>
                <a:spcPts val="201"/>
              </a:spcAft>
              <a:buNone/>
            </a:pPr>
            <a:r>
              <a:rPr lang="en-US" sz="8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🗄️ CS이력 265K 청크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924099" y="3349064"/>
            <a:ext cx="1487175" cy="271941"/>
          </a:xfrm>
          <a:prstGeom prst="roundRect">
            <a:avLst>
              <a:gd name="adj" fmla="val 15762"/>
            </a:avLst>
          </a:prstGeom>
          <a:solidFill>
            <a:srgbClr val="E8F5E9"/>
          </a:solidFill>
          <a:ln w="8498">
            <a:solidFill>
              <a:srgbClr val="A5D6A7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spcBef>
                <a:spcPts val="201"/>
              </a:spcBef>
              <a:spcAft>
                <a:spcPts val="201"/>
              </a:spcAft>
              <a:buNone/>
            </a:pPr>
            <a:r>
              <a:rPr lang="en-US" sz="8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📖 WTA매뉴얼 120K 청크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509600" y="3349064"/>
            <a:ext cx="1215234" cy="271941"/>
          </a:xfrm>
          <a:prstGeom prst="roundRect">
            <a:avLst>
              <a:gd name="adj" fmla="val 15762"/>
            </a:avLst>
          </a:prstGeom>
          <a:solidFill>
            <a:srgbClr val="E8F5E9"/>
          </a:solidFill>
          <a:ln w="8498">
            <a:solidFill>
              <a:srgbClr val="A5D6A7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spcBef>
                <a:spcPts val="201"/>
              </a:spcBef>
              <a:spcAft>
                <a:spcPts val="201"/>
              </a:spcAft>
              <a:buNone/>
            </a:pPr>
            <a:r>
              <a:rPr lang="en-US" sz="8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📋 기술문서 2K 청크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24952" y="3349064"/>
            <a:ext cx="1393695" cy="271941"/>
          </a:xfrm>
          <a:prstGeom prst="roundRect">
            <a:avLst>
              <a:gd name="adj" fmla="val 15762"/>
            </a:avLst>
          </a:prstGeom>
          <a:solidFill>
            <a:srgbClr val="E8F5E9"/>
          </a:solidFill>
          <a:ln w="8498">
            <a:solidFill>
              <a:srgbClr val="A5D6A7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spcBef>
                <a:spcPts val="201"/>
              </a:spcBef>
              <a:spcAft>
                <a:spcPts val="201"/>
              </a:spcAft>
              <a:buNone/>
            </a:pPr>
            <a:r>
              <a:rPr lang="en-US" sz="8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⚙️ 부품매뉴얼 633 청크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39926" y="4039074"/>
            <a:ext cx="4189584" cy="951792"/>
          </a:xfrm>
          <a:prstGeom prst="roundRect">
            <a:avLst>
              <a:gd name="adj" fmla="val 5147"/>
            </a:avLst>
          </a:prstGeom>
          <a:solidFill>
            <a:srgbClr val="F8F8F8"/>
          </a:solidFill>
          <a:ln/>
        </p:spPr>
      </p:sp>
      <p:sp>
        <p:nvSpPr>
          <p:cNvPr id="28" name="Text 26"/>
          <p:cNvSpPr/>
          <p:nvPr/>
        </p:nvSpPr>
        <p:spPr>
          <a:xfrm>
            <a:off x="492892" y="4130893"/>
            <a:ext cx="3909145" cy="15296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68"/>
              </a:spcAft>
              <a:buNone/>
            </a:pPr>
            <a:r>
              <a:rPr lang="en-US" sz="9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 방식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2892" y="4316989"/>
            <a:ext cx="3909145" cy="178461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92"/>
              </a:lnSpc>
              <a:spcAft>
                <a:spcPts val="134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P2P HTTP 직접통신 (중앙 서버 불필요)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92892" y="4510720"/>
            <a:ext cx="3909145" cy="178461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92"/>
              </a:lnSpc>
              <a:spcAft>
                <a:spcPts val="134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오프라인 메시지 큐 (자동 재전달)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92892" y="4704451"/>
            <a:ext cx="3909145" cy="178461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92"/>
              </a:lnSpc>
              <a:spcAft>
                <a:spcPts val="134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에이전트 간 MCP 채널 연동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614491" y="4039074"/>
            <a:ext cx="4189584" cy="951792"/>
          </a:xfrm>
          <a:prstGeom prst="roundRect">
            <a:avLst>
              <a:gd name="adj" fmla="val 5147"/>
            </a:avLst>
          </a:prstGeom>
          <a:solidFill>
            <a:srgbClr val="F8F8F8"/>
          </a:solidFill>
          <a:ln/>
        </p:spPr>
      </p:sp>
      <p:sp>
        <p:nvSpPr>
          <p:cNvPr id="33" name="Text 31"/>
          <p:cNvSpPr/>
          <p:nvPr/>
        </p:nvSpPr>
        <p:spPr>
          <a:xfrm>
            <a:off x="4767457" y="4130893"/>
            <a:ext cx="3909145" cy="15296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68"/>
              </a:spcAft>
              <a:buNone/>
            </a:pPr>
            <a:r>
              <a:rPr lang="en-US" sz="9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멀티모델 파이프라인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67457" y="4316989"/>
            <a:ext cx="3909145" cy="178461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92"/>
              </a:lnSpc>
              <a:spcAft>
                <a:spcPts val="134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</a:t>
            </a:r>
            <a:pPr algn="l" indent="0" marL="0">
              <a:lnSpc>
                <a:spcPts val="1392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Haiku</a:t>
            </a:r>
            <a:pPr algn="l" indent="0" marL="0">
              <a:lnSpc>
                <a:spcPts val="1392"/>
              </a:lnSpc>
              <a:spcAft>
                <a:spcPts val="134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접수·라우팅 (빠른 분류)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767457" y="4510720"/>
            <a:ext cx="3909145" cy="178461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92"/>
              </a:lnSpc>
              <a:spcAft>
                <a:spcPts val="134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</a:t>
            </a:r>
            <a:pPr algn="l" indent="0" marL="0">
              <a:lnSpc>
                <a:spcPts val="1392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Opus</a:t>
            </a:r>
            <a:pPr algn="l" indent="0" marL="0">
              <a:lnSpc>
                <a:spcPts val="1392"/>
              </a:lnSpc>
              <a:spcAft>
                <a:spcPts val="134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고급 기술응답 (이미지 분석)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767457" y="4704451"/>
            <a:ext cx="3909145" cy="178461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92"/>
              </a:lnSpc>
              <a:spcAft>
                <a:spcPts val="134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</a:t>
            </a:r>
            <a:pPr algn="l" indent="0" marL="0">
              <a:lnSpc>
                <a:spcPts val="1392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Sonnet</a:t>
            </a:r>
            <a:pPr algn="l" indent="0" marL="0">
              <a:lnSpc>
                <a:spcPts val="1392"/>
              </a:lnSpc>
              <a:spcAft>
                <a:spcPts val="134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일반 업무처리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864557" y="4931046"/>
            <a:ext cx="110476" cy="12747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700" dirty="0"/>
          </a:p>
        </p:txBody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9926" y="1001054"/>
            <a:ext cx="8464149" cy="764833"/>
          </a:xfrm>
          <a:prstGeom prst="rect">
            <a:avLst/>
          </a:prstGeom>
        </p:spPr>
      </p:pic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926" y="4039074"/>
            <a:ext cx="4189584" cy="951792"/>
          </a:xfrm>
          <a:prstGeom prst="rect">
            <a:avLst/>
          </a:prstGeom>
        </p:spPr>
      </p:pic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14491" y="4039074"/>
            <a:ext cx="4189584" cy="9517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62"/>
            <a:ext cx="9144000" cy="5141375"/>
          </a:xfrm>
          <a:prstGeom prst="roundRect">
            <a:avLst>
              <a:gd name="adj" fmla="val 118"/>
            </a:avLst>
          </a:prstGeom>
          <a:ln/>
          <a:effectLst>
            <a:outerShdw sx="100000" sy="100000" kx="0" ky="0" algn="bl" rotWithShape="0" blurRad="101978" dist="16996" dir="540000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38133" y="178461"/>
            <a:ext cx="2277502" cy="280439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Bef>
                <a:spcPts val="736"/>
              </a:spcBef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학습 현황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23446" y="1087762"/>
            <a:ext cx="2608929" cy="322929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43"/>
              </a:lnSpc>
              <a:buNone/>
            </a:pPr>
            <a:r>
              <a:rPr lang="en-US" sz="2500" b="1" dirty="0">
                <a:solidFill>
                  <a:srgbClr val="CC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9.3GB+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23446" y="1444684"/>
            <a:ext cx="2608929" cy="13597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Bef>
                <a:spcPts val="268"/>
              </a:spcBef>
              <a:buNone/>
            </a:pPr>
            <a:r>
              <a:rPr lang="en-US" sz="800" dirty="0">
                <a:solidFill>
                  <a:srgbClr val="777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벡터 DB 총 용량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67469" y="1087762"/>
            <a:ext cx="2608929" cy="322929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43"/>
              </a:lnSpc>
              <a:buNone/>
            </a:pPr>
            <a:r>
              <a:rPr lang="en-US" sz="2500" b="1" dirty="0">
                <a:solidFill>
                  <a:srgbClr val="1565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391,000+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3267469" y="1444684"/>
            <a:ext cx="2608929" cy="13597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Bef>
                <a:spcPts val="268"/>
              </a:spcBef>
              <a:buNone/>
            </a:pPr>
            <a:r>
              <a:rPr lang="en-US" sz="800" dirty="0">
                <a:solidFill>
                  <a:srgbClr val="777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벡터 청크 수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111491" y="1087762"/>
            <a:ext cx="2608929" cy="322929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43"/>
              </a:lnSpc>
              <a:buNone/>
            </a:pPr>
            <a:r>
              <a:rPr lang="en-US" sz="25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99.7%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6111491" y="1444684"/>
            <a:ext cx="2608929" cy="13597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Bef>
                <a:spcPts val="268"/>
              </a:spcBef>
              <a:buNone/>
            </a:pPr>
            <a:r>
              <a:rPr lang="en-US" sz="800" dirty="0">
                <a:solidFill>
                  <a:srgbClr val="777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임베딩 완료율</a:t>
            </a:r>
            <a:endParaRPr lang="en-US" sz="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39926" y="1733621"/>
          <a:ext cx="8464149" cy="914400"/>
        </p:xfrm>
        <a:graphic>
          <a:graphicData uri="http://schemas.openxmlformats.org/drawingml/2006/table">
            <a:tbl>
              <a:tblPr/>
              <a:tblGrid>
                <a:gridCol w="2430203"/>
                <a:gridCol w="1661387"/>
                <a:gridCol w="1578663"/>
                <a:gridCol w="1459290"/>
                <a:gridCol w="1334607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55555"/>
                          </a:solidFill>
                          <a:highlight>
                            <a:srgbClr val="F0F0F0"/>
                          </a:highlight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데이터셋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3480" marR="93480" marT="67985" marB="6798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6996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55555"/>
                          </a:solidFill>
                          <a:highlight>
                            <a:srgbClr val="F0F0F0"/>
                          </a:highlight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원본 건수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3480" marR="93480" marT="67985" marB="6798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6996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55555"/>
                          </a:solidFill>
                          <a:highlight>
                            <a:srgbClr val="F0F0F0"/>
                          </a:highlight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청크 수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3480" marR="93480" marT="67985" marB="6798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6996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55555"/>
                          </a:solidFill>
                          <a:highlight>
                            <a:srgbClr val="F0F0F0"/>
                          </a:highlight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용량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3480" marR="93480" marT="67985" marB="6798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6996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55555"/>
                          </a:solidFill>
                          <a:highlight>
                            <a:srgbClr val="F0F0F0"/>
                          </a:highlight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상태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3480" marR="93480" marT="67985" marB="6798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6996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부품매뉴얼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3480" marR="93480" marT="67985" marB="6798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98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1,164건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3480" marR="93480" marT="67985" marB="6798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98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265,635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3480" marR="93480" marT="67985" marB="6798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98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6.0GB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3480" marR="93480" marT="67985" marB="6798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98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2E7D32"/>
                          </a:solidFill>
                          <a:highlight>
                            <a:srgbClr val="E8F5E9"/>
                          </a:highlight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완료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3480" marR="93480" marT="67985" marB="6798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98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WTA 기술문서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3480" marR="93480" marT="67985" marB="6798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98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656건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3480" marR="93480" marT="67985" marB="6798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98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120,492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3480" marR="93480" marT="67985" marB="6798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98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3.0GB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3480" marR="93480" marT="67985" marB="6798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98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2E7D32"/>
                          </a:solidFill>
                          <a:highlight>
                            <a:srgbClr val="E8F5E9"/>
                          </a:highlight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완료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3480" marR="93480" marT="67985" marB="6798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98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CS 이력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3480" marR="93480" marT="67985" marB="6798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98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3,318건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3480" marR="93480" marT="67985" marB="6798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98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2,095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3480" marR="93480" marT="67985" marB="6798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98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138MB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3480" marR="93480" marT="67985" marB="6798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98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2E7D32"/>
                          </a:solidFill>
                          <a:highlight>
                            <a:srgbClr val="E8F5E9"/>
                          </a:highlight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완료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3480" marR="93480" marT="67985" marB="6798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98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339926" y="2938631"/>
            <a:ext cx="8464149" cy="764833"/>
          </a:xfrm>
          <a:prstGeom prst="roundRect">
            <a:avLst>
              <a:gd name="adj" fmla="val 1993"/>
            </a:avLst>
          </a:prstGeom>
          <a:solidFill>
            <a:srgbClr val="F8F8F8"/>
          </a:solidFill>
          <a:ln/>
        </p:spPr>
      </p:sp>
      <p:sp>
        <p:nvSpPr>
          <p:cNvPr id="12" name="Text 9"/>
          <p:cNvSpPr/>
          <p:nvPr/>
        </p:nvSpPr>
        <p:spPr>
          <a:xfrm>
            <a:off x="492892" y="3033836"/>
            <a:ext cx="8183710" cy="15296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68"/>
              </a:spcAft>
              <a:buNone/>
            </a:pPr>
            <a:r>
              <a:rPr lang="en-US" sz="9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임베딩 모델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92892" y="3219932"/>
            <a:ext cx="8183710" cy="178461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92"/>
              </a:lnSpc>
              <a:spcAft>
                <a:spcPts val="134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</a:t>
            </a:r>
            <a:pPr algn="l" indent="0" marL="0">
              <a:lnSpc>
                <a:spcPts val="1392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Qwen3-Embedding-8B</a:t>
            </a:r>
            <a:pPr algn="l" indent="0" marL="0">
              <a:lnSpc>
                <a:spcPts val="1392"/>
              </a:lnSpc>
              <a:spcAft>
                <a:spcPts val="134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(2000차원) — 한국어·영어·중국어 고성능 임베딩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92892" y="3413664"/>
            <a:ext cx="8183710" cy="178461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92"/>
              </a:lnSpc>
              <a:spcAft>
                <a:spcPts val="134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PostgreSQL pgvector 기반 코사인 유사도 Top-K 검색 — 벡터 인덱스 최적화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864557" y="4931046"/>
            <a:ext cx="110476" cy="12747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7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9926" y="2938631"/>
            <a:ext cx="8464149" cy="7648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62"/>
            <a:ext cx="9144000" cy="5141375"/>
          </a:xfrm>
          <a:prstGeom prst="roundRect">
            <a:avLst>
              <a:gd name="adj" fmla="val 118"/>
            </a:avLst>
          </a:prstGeom>
          <a:ln/>
          <a:effectLst>
            <a:outerShdw sx="100000" sy="100000" kx="0" ky="0" algn="bl" rotWithShape="0" blurRad="101978" dist="16996" dir="540000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37801" y="178461"/>
            <a:ext cx="3280283" cy="280439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Bef>
                <a:spcPts val="736"/>
              </a:spcBef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슬랙 채널별 AI 자동 라우팅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9926" y="949667"/>
            <a:ext cx="8464149" cy="22095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6"/>
              </a:lnSpc>
              <a:spcAft>
                <a:spcPts val="535"/>
              </a:spcAft>
              <a:buNone/>
            </a:pPr>
            <a:r>
              <a:rPr lang="en-US" sz="10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슬랙 채널에 전담 AI 에이전트를 배치하여, 직원 대화가 자동으로 업무 데이터로 전환됩니다.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39926" y="1236480"/>
          <a:ext cx="8464149" cy="914400"/>
        </p:xfrm>
        <a:graphic>
          <a:graphicData uri="http://schemas.openxmlformats.org/drawingml/2006/table">
            <a:tbl>
              <a:tblPr/>
              <a:tblGrid>
                <a:gridCol w="1308979"/>
                <a:gridCol w="2475482"/>
                <a:gridCol w="4679687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55555"/>
                          </a:solidFill>
                          <a:highlight>
                            <a:srgbClr val="F0F0F0"/>
                          </a:highlight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슬랙 채널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3480" marR="93480" marT="67985" marB="6798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6996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55555"/>
                          </a:solidFill>
                          <a:highlight>
                            <a:srgbClr val="F0F0F0"/>
                          </a:highlight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에이전트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3480" marR="93480" marT="67985" marB="6798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6996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55555"/>
                          </a:solidFill>
                          <a:highlight>
                            <a:srgbClr val="F0F0F0"/>
                          </a:highlight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주요 기능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3480" marR="93480" marT="67985" marB="6798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6996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#cs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3480" marR="93480" marT="67985" marB="6798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98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🛠️ cs-agent (Opus)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3480" marR="93480" marT="67985" marB="6798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98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CS 기술지원 — RAG 검색 + 이미지 분석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3480" marR="93480" marT="67985" marB="6798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98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#부적합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3480" marR="93480" marT="67985" marB="6798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98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🔍 nc-manager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3480" marR="93480" marT="67985" marB="6798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98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LLM 자동판단 → MES 부적합 등록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3480" marR="93480" marT="67985" marB="6798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98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#영업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3480" marR="93480" marT="67985" marB="6798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98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💰 sales-agent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3480" marR="93480" marT="67985" marB="6798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98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수주·견적·매출 조회 및 분석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3480" marR="93480" marT="67985" marB="6798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98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#개발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3480" marR="93480" marT="67985" marB="6798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98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💻 dev-agent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3480" marR="93480" marT="67985" marB="6798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98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MES 버그 리포트·기능 요청 처리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3480" marR="93480" marT="67985" marB="6798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98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#docs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3480" marR="93480" marT="67985" marB="6798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98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📝 docs-agent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3480" marR="93480" marT="67985" marB="6798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98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문서 작성·번역·매뉴얼 검색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3480" marR="93480" marT="67985" marB="6798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98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#제어-*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3480" marR="93480" marT="67985" marB="6798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98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⚡ control-agent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3480" marR="93480" marT="67985" marB="6798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98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개인별 제어설계 기술지원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3480" marR="93480" marT="67985" marB="6798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98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#admin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3480" marR="93480" marT="67985" marB="6798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98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📋 admin-agent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3480" marR="93480" marT="67985" marB="6798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98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인프라 모니터링·계정 관리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3480" marR="93480" marT="67985" marB="6798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98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39926" y="3481649"/>
            <a:ext cx="8464149" cy="951792"/>
          </a:xfrm>
          <a:prstGeom prst="roundRect">
            <a:avLst>
              <a:gd name="adj" fmla="val 5147"/>
            </a:avLst>
          </a:prstGeom>
          <a:solidFill>
            <a:srgbClr val="F8F8F8"/>
          </a:solidFill>
          <a:ln/>
        </p:spPr>
      </p:sp>
      <p:sp>
        <p:nvSpPr>
          <p:cNvPr id="7" name="Text 4"/>
          <p:cNvSpPr/>
          <p:nvPr/>
        </p:nvSpPr>
        <p:spPr>
          <a:xfrm>
            <a:off x="492892" y="3573468"/>
            <a:ext cx="8183710" cy="15296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68"/>
              </a:spcAft>
              <a:buNone/>
            </a:pPr>
            <a:r>
              <a:rPr lang="en-US" sz="9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비전: 직원 대화 → AI 자동 수집 → 정형 데이터 → MES DB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92892" y="3759564"/>
            <a:ext cx="8183710" cy="178461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92"/>
              </a:lnSpc>
              <a:spcAft>
                <a:spcPts val="134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직원이 슬랙에서 자연스럽게 대화하면, AI가 자동으로 구조화된 데이터를 생성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92892" y="3953295"/>
            <a:ext cx="8183710" cy="178461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92"/>
              </a:lnSpc>
              <a:spcAft>
                <a:spcPts val="134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부적합 보고서, CS 이력, 장비 이슈 등이 수동 입력 없이 MES에 축적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92892" y="4147027"/>
            <a:ext cx="8183710" cy="178461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92"/>
              </a:lnSpc>
              <a:spcAft>
                <a:spcPts val="134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</a:t>
            </a:r>
            <a:pPr algn="l" indent="0" marL="0">
              <a:lnSpc>
                <a:spcPts val="1392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현실 직원 → AI 데이터 채널 확보</a:t>
            </a:r>
            <a:pPr algn="l" indent="0" marL="0">
              <a:lnSpc>
                <a:spcPts val="1392"/>
              </a:lnSpc>
              <a:spcAft>
                <a:spcPts val="134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(전사 핵심 과제)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4557" y="4931046"/>
            <a:ext cx="110476" cy="12747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7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9926" y="3481649"/>
            <a:ext cx="8464149" cy="9517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62"/>
            <a:ext cx="9144000" cy="5141375"/>
          </a:xfrm>
          <a:prstGeom prst="roundRect">
            <a:avLst>
              <a:gd name="adj" fmla="val 118"/>
            </a:avLst>
          </a:prstGeom>
          <a:ln/>
          <a:effectLst>
            <a:outerShdw sx="100000" sy="100000" kx="0" ky="0" algn="bl" rotWithShape="0" blurRad="101978" dist="16996" dir="540000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39063" y="178461"/>
            <a:ext cx="1563658" cy="280439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Bef>
                <a:spcPts val="736"/>
              </a:spcBef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구축 성과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23446" y="1087762"/>
            <a:ext cx="2608929" cy="322929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43"/>
              </a:lnSpc>
              <a:buNone/>
            </a:pPr>
            <a:r>
              <a:rPr lang="en-US" sz="2500" b="1" dirty="0">
                <a:solidFill>
                  <a:srgbClr val="CC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154건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23446" y="1444684"/>
            <a:ext cx="2608929" cy="13597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Bef>
                <a:spcPts val="268"/>
              </a:spcBef>
              <a:buNone/>
            </a:pPr>
            <a:r>
              <a:rPr lang="en-US" sz="800" dirty="0">
                <a:solidFill>
                  <a:srgbClr val="777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 챗봇 세션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67469" y="1087762"/>
            <a:ext cx="2608929" cy="322929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43"/>
              </a:lnSpc>
              <a:buNone/>
            </a:pPr>
            <a:r>
              <a:rPr lang="en-US" sz="2500" b="1" dirty="0">
                <a:solidFill>
                  <a:srgbClr val="1565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614건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3267469" y="1444684"/>
            <a:ext cx="2608929" cy="13597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Bef>
                <a:spcPts val="268"/>
              </a:spcBef>
              <a:buNone/>
            </a:pPr>
            <a:r>
              <a:rPr lang="en-US" sz="800" dirty="0">
                <a:solidFill>
                  <a:srgbClr val="777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메시지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111491" y="1087762"/>
            <a:ext cx="2608929" cy="322929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43"/>
              </a:lnSpc>
              <a:buNone/>
            </a:pPr>
            <a:r>
              <a:rPr lang="en-US" sz="25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100%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6111491" y="1444684"/>
            <a:ext cx="2608929" cy="13597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Bef>
                <a:spcPts val="268"/>
              </a:spcBef>
              <a:buNone/>
            </a:pPr>
            <a:r>
              <a:rPr lang="en-US" sz="800" dirty="0">
                <a:solidFill>
                  <a:srgbClr val="777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긍정 피드백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39926" y="1735613"/>
            <a:ext cx="8464149" cy="1444684"/>
          </a:xfrm>
          <a:prstGeom prst="roundRect">
            <a:avLst>
              <a:gd name="adj" fmla="val 2234"/>
            </a:avLst>
          </a:prstGeom>
          <a:ln w="8498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8424" y="1744111"/>
            <a:ext cx="4223576" cy="1427688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2" name="Text 10"/>
          <p:cNvSpPr/>
          <p:nvPr/>
        </p:nvSpPr>
        <p:spPr>
          <a:xfrm>
            <a:off x="450401" y="1844097"/>
            <a:ext cx="4011123" cy="15296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1"/>
              </a:spcAft>
              <a:buNone/>
            </a:pPr>
            <a:r>
              <a:rPr lang="en-US" sz="9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Before (기존 방식)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0" y="1744111"/>
            <a:ext cx="4223576" cy="1427688"/>
          </a:xfrm>
          <a:prstGeom prst="rect">
            <a:avLst/>
          </a:prstGeom>
          <a:solidFill>
            <a:srgbClr val="F0FFF0"/>
          </a:solidFill>
          <a:ln/>
        </p:spPr>
      </p:sp>
      <p:sp>
        <p:nvSpPr>
          <p:cNvPr id="14" name="Text 12"/>
          <p:cNvSpPr/>
          <p:nvPr/>
        </p:nvSpPr>
        <p:spPr>
          <a:xfrm>
            <a:off x="4673978" y="1844097"/>
            <a:ext cx="4019621" cy="15296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1"/>
              </a:spcAft>
              <a:buNone/>
            </a:pPr>
            <a:r>
              <a:rPr lang="en-US" sz="9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After (AI 챗봇)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864557" y="4931046"/>
            <a:ext cx="110476" cy="12747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7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8424" y="1744111"/>
            <a:ext cx="4223576" cy="142768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50401" y="2050044"/>
            <a:ext cx="4011123" cy="1002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9"/>
              </a:lnSpc>
              <a:spcAft>
                <a:spcPts val="134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✗ </a:t>
            </a:r>
            <a:pPr algn="l" indent="0" marL="0">
              <a:lnSpc>
                <a:spcPts val="1479"/>
              </a:lnSpc>
              <a:spcAft>
                <a:spcPts val="134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 응답: 수 시간 ~ 1일 소요</a:t>
            </a:r>
            <a:endParaRPr lang="en-US" sz="800" dirty="0"/>
          </a:p>
          <a:p>
            <a:pPr algn="l" indent="0" marL="0">
              <a:lnSpc>
                <a:spcPts val="1479"/>
              </a:lnSpc>
              <a:spcAft>
                <a:spcPts val="134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✗ </a:t>
            </a:r>
            <a:pPr algn="l" indent="0" marL="0">
              <a:lnSpc>
                <a:spcPts val="1479"/>
              </a:lnSpc>
              <a:spcAft>
                <a:spcPts val="134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매뉴얼 검색: 수십 개 PDF 수동 탐색</a:t>
            </a:r>
            <a:endParaRPr lang="en-US" sz="800" dirty="0"/>
          </a:p>
          <a:p>
            <a:pPr algn="l" indent="0" marL="0">
              <a:lnSpc>
                <a:spcPts val="1479"/>
              </a:lnSpc>
              <a:spcAft>
                <a:spcPts val="134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✗ </a:t>
            </a:r>
            <a:pPr algn="l" indent="0" marL="0">
              <a:lnSpc>
                <a:spcPts val="1479"/>
              </a:lnSpc>
              <a:spcAft>
                <a:spcPts val="134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부적합 등록: 수동 양식 작성 (5~10분)</a:t>
            </a:r>
            <a:endParaRPr lang="en-US" sz="800" dirty="0"/>
          </a:p>
          <a:p>
            <a:pPr algn="l" indent="0" marL="0">
              <a:lnSpc>
                <a:spcPts val="1479"/>
              </a:lnSpc>
              <a:spcAft>
                <a:spcPts val="134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✗ </a:t>
            </a:r>
            <a:pPr algn="l" indent="0" marL="0">
              <a:lnSpc>
                <a:spcPts val="1479"/>
              </a:lnSpc>
              <a:spcAft>
                <a:spcPts val="134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노하우: 특정 담당자 의존</a:t>
            </a:r>
            <a:endParaRPr lang="en-US" sz="800" dirty="0"/>
          </a:p>
          <a:p>
            <a:pPr algn="l" indent="0" marL="0">
              <a:lnSpc>
                <a:spcPts val="1479"/>
              </a:lnSpc>
              <a:spcAft>
                <a:spcPts val="134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✗ </a:t>
            </a:r>
            <a:pPr algn="l" indent="0" marL="0">
              <a:lnSpc>
                <a:spcPts val="1479"/>
              </a:lnSpc>
              <a:spcAft>
                <a:spcPts val="134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야간/주말: 응답 불가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673978" y="2050044"/>
            <a:ext cx="4019621" cy="1002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9"/>
              </a:lnSpc>
              <a:spcAft>
                <a:spcPts val="134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</a:t>
            </a:r>
            <a:pPr algn="l" indent="0" marL="0">
              <a:lnSpc>
                <a:spcPts val="1479"/>
              </a:lnSpc>
              <a:spcAft>
                <a:spcPts val="134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 응답: </a:t>
            </a:r>
            <a:pPr algn="l" indent="0" marL="0">
              <a:lnSpc>
                <a:spcPts val="1479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 분 이내</a:t>
            </a:r>
            <a:pPr algn="l" indent="0" marL="0">
              <a:lnSpc>
                <a:spcPts val="1479"/>
              </a:lnSpc>
              <a:spcAft>
                <a:spcPts val="134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자동 응답</a:t>
            </a:r>
            <a:endParaRPr lang="en-US" sz="800" dirty="0"/>
          </a:p>
          <a:p>
            <a:pPr algn="l" indent="0" marL="0">
              <a:lnSpc>
                <a:spcPts val="1479"/>
              </a:lnSpc>
              <a:spcAft>
                <a:spcPts val="134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</a:t>
            </a:r>
            <a:pPr algn="l" indent="0" marL="0">
              <a:lnSpc>
                <a:spcPts val="1479"/>
              </a:lnSpc>
              <a:spcAft>
                <a:spcPts val="134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 검색: </a:t>
            </a:r>
            <a:pPr algn="l" indent="0" marL="0">
              <a:lnSpc>
                <a:spcPts val="1479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39만 청크</a:t>
            </a:r>
            <a:pPr algn="l" indent="0" marL="0">
              <a:lnSpc>
                <a:spcPts val="1479"/>
              </a:lnSpc>
              <a:spcAft>
                <a:spcPts val="134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즉시 탐색</a:t>
            </a:r>
            <a:endParaRPr lang="en-US" sz="800" dirty="0"/>
          </a:p>
          <a:p>
            <a:pPr algn="l" indent="0" marL="0">
              <a:lnSpc>
                <a:spcPts val="1479"/>
              </a:lnSpc>
              <a:spcAft>
                <a:spcPts val="134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</a:t>
            </a:r>
            <a:pPr algn="l" indent="0" marL="0">
              <a:lnSpc>
                <a:spcPts val="1479"/>
              </a:lnSpc>
              <a:spcAft>
                <a:spcPts val="134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부적합: 슬랙 대화에서 </a:t>
            </a:r>
            <a:pPr algn="l" indent="0" marL="0">
              <a:lnSpc>
                <a:spcPts val="1479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파싱·등록</a:t>
            </a:r>
            <a:endParaRPr lang="en-US" sz="800" dirty="0"/>
          </a:p>
          <a:p>
            <a:pPr algn="l" indent="0" marL="0">
              <a:lnSpc>
                <a:spcPts val="1479"/>
              </a:lnSpc>
              <a:spcAft>
                <a:spcPts val="134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</a:t>
            </a:r>
            <a:pPr algn="l" indent="0" marL="0">
              <a:lnSpc>
                <a:spcPts val="1479"/>
              </a:lnSpc>
              <a:spcAft>
                <a:spcPts val="134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노하우: AI에 축적, 누구나 접근 가능</a:t>
            </a:r>
            <a:endParaRPr lang="en-US" sz="800" dirty="0"/>
          </a:p>
          <a:p>
            <a:pPr algn="l" indent="0" marL="0">
              <a:lnSpc>
                <a:spcPts val="1479"/>
              </a:lnSpc>
              <a:spcAft>
                <a:spcPts val="134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</a:t>
            </a:r>
            <a:pPr algn="l" indent="0" marL="0">
              <a:lnSpc>
                <a:spcPts val="1479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24/7</a:t>
            </a:r>
            <a:pPr algn="l" indent="0" marL="0">
              <a:lnSpc>
                <a:spcPts val="1479"/>
              </a:lnSpc>
              <a:spcAft>
                <a:spcPts val="134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 야간·주말 무인 응답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62"/>
            <a:ext cx="9144000" cy="5141375"/>
          </a:xfrm>
          <a:prstGeom prst="roundRect">
            <a:avLst>
              <a:gd name="adj" fmla="val 118"/>
            </a:avLst>
          </a:prstGeom>
          <a:ln/>
          <a:effectLst>
            <a:outerShdw sx="100000" sy="100000" kx="0" ky="0" algn="bl" rotWithShape="0" blurRad="101978" dist="16996" dir="540000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39992" y="178461"/>
            <a:ext cx="2566439" cy="280439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Bef>
                <a:spcPts val="736"/>
              </a:spcBef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구축 성과 — 실사례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1320" y="681909"/>
            <a:ext cx="2727903" cy="2379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1320" y="3167085"/>
            <a:ext cx="2727903" cy="16996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65"/>
              </a:lnSpc>
              <a:spcBef>
                <a:spcPts val="535"/>
              </a:spcBef>
              <a:spcAft>
                <a:spcPts val="401"/>
              </a:spcAft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미쓰비시 로봇 배터리 교체 문의</a:t>
            </a:r>
            <a:endParaRPr lang="en-US" sz="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7982" y="681909"/>
            <a:ext cx="2727903" cy="20565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07982" y="2844155"/>
            <a:ext cx="2727903" cy="16996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65"/>
              </a:lnSpc>
              <a:spcBef>
                <a:spcPts val="535"/>
              </a:spcBef>
              <a:spcAft>
                <a:spcPts val="401"/>
              </a:spcAft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PVD 장비 에러 빈도 TOP 10 분석</a:t>
            </a:r>
            <a:endParaRPr lang="en-US" sz="8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4710" y="679785"/>
            <a:ext cx="2727903" cy="254094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074710" y="3324300"/>
            <a:ext cx="2727903" cy="16996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65"/>
              </a:lnSpc>
              <a:spcBef>
                <a:spcPts val="535"/>
              </a:spcBef>
              <a:spcAft>
                <a:spcPts val="401"/>
              </a:spcAft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Z축 청소 모듈 충돌 보경 문의</a:t>
            </a:r>
            <a:endParaRPr lang="en-US" sz="800" dirty="0"/>
          </a:p>
        </p:txBody>
      </p:sp>
      <p:sp>
        <p:nvSpPr>
          <p:cNvPr id="10" name="Text 5"/>
          <p:cNvSpPr/>
          <p:nvPr/>
        </p:nvSpPr>
        <p:spPr>
          <a:xfrm>
            <a:off x="8864557" y="4931046"/>
            <a:ext cx="110476" cy="12747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62"/>
            <a:ext cx="9144000" cy="5141375"/>
          </a:xfrm>
          <a:prstGeom prst="roundRect">
            <a:avLst>
              <a:gd name="adj" fmla="val 118"/>
            </a:avLst>
          </a:prstGeom>
          <a:ln/>
          <a:effectLst>
            <a:outerShdw sx="100000" sy="100000" kx="0" ky="0" algn="bl" rotWithShape="0" blurRad="101978" dist="16996" dir="540000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41121" y="178461"/>
            <a:ext cx="3526729" cy="280439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Bef>
                <a:spcPts val="736"/>
              </a:spcBef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 응답 품질 개선 파이프라인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9926" y="949667"/>
            <a:ext cx="8464149" cy="22095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6"/>
              </a:lnSpc>
              <a:spcAft>
                <a:spcPts val="535"/>
              </a:spcAft>
              <a:buNone/>
            </a:pPr>
            <a:r>
              <a:rPr lang="en-US" sz="10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엔지니어 피드백을 통해 </a:t>
            </a:r>
            <a:pPr algn="l" indent="0" marL="0">
              <a:lnSpc>
                <a:spcPts val="1706"/>
              </a:lnSpc>
              <a:buNone/>
            </a:pPr>
            <a:r>
              <a:rPr lang="en-US" sz="10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응답할수록 정확해지는 자기학습 구조</a:t>
            </a:r>
            <a:pPr algn="l" indent="0" marL="0">
              <a:lnSpc>
                <a:spcPts val="1706"/>
              </a:lnSpc>
              <a:spcAft>
                <a:spcPts val="535"/>
              </a:spcAft>
              <a:buNone/>
            </a:pPr>
            <a:r>
              <a:rPr lang="en-US" sz="10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구현합니다.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50625" y="1236480"/>
            <a:ext cx="1300216" cy="526885"/>
          </a:xfrm>
          <a:prstGeom prst="roundRect">
            <a:avLst>
              <a:gd name="adj" fmla="val 4199"/>
            </a:avLst>
          </a:prstGeom>
          <a:solidFill>
            <a:srgbClr val="F8F8F8"/>
          </a:solidFill>
          <a:ln w="16996">
            <a:solidFill>
              <a:srgbClr val="1565C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질문 접수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#cs 채널 고객/직원 질문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100103" y="1376699"/>
            <a:ext cx="186959" cy="24644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339844" y="1236480"/>
            <a:ext cx="1232230" cy="526885"/>
          </a:xfrm>
          <a:prstGeom prst="roundRect">
            <a:avLst>
              <a:gd name="adj" fmla="val 4199"/>
            </a:avLst>
          </a:prstGeom>
          <a:solidFill>
            <a:srgbClr val="F8F8F8"/>
          </a:solidFill>
          <a:ln w="16996">
            <a:solidFill>
              <a:srgbClr val="7B1FA2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1F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AI 응답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벡터DB RAG 기반 생성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24856" y="1376699"/>
            <a:ext cx="186959" cy="24644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63866" y="1236480"/>
            <a:ext cx="1317212" cy="526885"/>
          </a:xfrm>
          <a:prstGeom prst="roundRect">
            <a:avLst>
              <a:gd name="adj" fmla="val 4199"/>
            </a:avLst>
          </a:prstGeom>
          <a:solidFill>
            <a:srgbClr val="F8F8F8"/>
          </a:solidFill>
          <a:ln w="16996">
            <a:solidFill>
              <a:srgbClr val="E651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엔지니어 검증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정확/부정확 피드백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233129" y="1376699"/>
            <a:ext cx="186959" cy="24644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70015" y="1236480"/>
            <a:ext cx="1300216" cy="526885"/>
          </a:xfrm>
          <a:prstGeom prst="roundRect">
            <a:avLst>
              <a:gd name="adj" fmla="val 4199"/>
            </a:avLst>
          </a:prstGeom>
          <a:solidFill>
            <a:srgbClr val="F8F8F8"/>
          </a:solidFill>
          <a:ln w="16996">
            <a:solidFill>
              <a:srgbClr val="2E7D32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세션 기록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JSONL 보정 데이터 축적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20157" y="1376699"/>
            <a:ext cx="186959" cy="24644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57773" y="1236480"/>
            <a:ext cx="1334208" cy="526885"/>
          </a:xfrm>
          <a:prstGeom prst="roundRect">
            <a:avLst>
              <a:gd name="adj" fmla="val 4199"/>
            </a:avLst>
          </a:prstGeom>
          <a:solidFill>
            <a:srgbClr val="F8F8F8"/>
          </a:solidFill>
          <a:ln w="16996">
            <a:solidFill>
              <a:srgbClr val="CC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C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재임베딩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검증된 응답 벡터DB 저장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9926" y="1883135"/>
            <a:ext cx="4189584" cy="1147249"/>
          </a:xfrm>
          <a:prstGeom prst="roundRect">
            <a:avLst>
              <a:gd name="adj" fmla="val 3542"/>
            </a:avLst>
          </a:prstGeom>
          <a:solidFill>
            <a:srgbClr val="F8F8F8"/>
          </a:solidFill>
          <a:ln/>
        </p:spPr>
      </p:sp>
      <p:sp>
        <p:nvSpPr>
          <p:cNvPr id="15" name="Text 13"/>
          <p:cNvSpPr/>
          <p:nvPr/>
        </p:nvSpPr>
        <p:spPr>
          <a:xfrm>
            <a:off x="492892" y="1975818"/>
            <a:ext cx="3909145" cy="15296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68"/>
              </a:spcAft>
              <a:buNone/>
            </a:pPr>
            <a:r>
              <a:rPr lang="en-US" sz="9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자기학습 사이클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2892" y="2161914"/>
            <a:ext cx="3909145" cy="178461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92"/>
              </a:lnSpc>
              <a:spcAft>
                <a:spcPts val="134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부정확 응답 → 엔지니어가 보정된 정답 입력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92892" y="2355645"/>
            <a:ext cx="3909145" cy="178461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92"/>
              </a:lnSpc>
              <a:spcAft>
                <a:spcPts val="134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보정 세션을 </a:t>
            </a:r>
            <a:pPr algn="l" indent="0" marL="0">
              <a:lnSpc>
                <a:spcPts val="1392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cs-sessions.jsonl</a:t>
            </a:r>
            <a:pPr algn="l" indent="0" marL="0">
              <a:lnSpc>
                <a:spcPts val="1392"/>
              </a:lnSpc>
              <a:spcAft>
                <a:spcPts val="134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 기록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92892" y="2549376"/>
            <a:ext cx="3909145" cy="178461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92"/>
              </a:lnSpc>
              <a:spcAft>
                <a:spcPts val="134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검증된 세션만 선별 재임베딩 → 벡터DB 갱신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92892" y="2743107"/>
            <a:ext cx="3909145" cy="178461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92"/>
              </a:lnSpc>
              <a:spcAft>
                <a:spcPts val="134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다음 유사 질문 시 </a:t>
            </a:r>
            <a:pPr algn="l" indent="0" marL="0">
              <a:lnSpc>
                <a:spcPts val="1392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검증된 답변 우선 검색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614491" y="1883135"/>
            <a:ext cx="4189584" cy="1147249"/>
          </a:xfrm>
          <a:prstGeom prst="roundRect">
            <a:avLst>
              <a:gd name="adj" fmla="val 3542"/>
            </a:avLst>
          </a:prstGeom>
          <a:solidFill>
            <a:srgbClr val="F8F8F8"/>
          </a:solidFill>
          <a:ln/>
        </p:spPr>
      </p:sp>
      <p:sp>
        <p:nvSpPr>
          <p:cNvPr id="21" name="Text 19"/>
          <p:cNvSpPr/>
          <p:nvPr/>
        </p:nvSpPr>
        <p:spPr>
          <a:xfrm>
            <a:off x="4767457" y="1975818"/>
            <a:ext cx="3909145" cy="15296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68"/>
              </a:spcAft>
              <a:buNone/>
            </a:pPr>
            <a:r>
              <a:rPr lang="en-US" sz="9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효과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67457" y="2161914"/>
            <a:ext cx="3909145" cy="178461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92"/>
              </a:lnSpc>
              <a:spcAft>
                <a:spcPts val="134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운영할수록 </a:t>
            </a:r>
            <a:pPr algn="l" indent="0" marL="0">
              <a:lnSpc>
                <a:spcPts val="1392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 정확도 지속 향상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767457" y="2355645"/>
            <a:ext cx="3909145" cy="178461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92"/>
              </a:lnSpc>
              <a:spcAft>
                <a:spcPts val="134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엔지니어 검증 데이터만 학습 — </a:t>
            </a:r>
            <a:pPr algn="l" indent="0" marL="0">
              <a:lnSpc>
                <a:spcPts val="1392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보장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67457" y="2549376"/>
            <a:ext cx="3909145" cy="178461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92"/>
              </a:lnSpc>
              <a:spcAft>
                <a:spcPts val="134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JSONL 기반 전수 추적 — 언제/누가/무엇을 보정했는지 기록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67457" y="2743107"/>
            <a:ext cx="3909145" cy="178461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92"/>
              </a:lnSpc>
              <a:spcAft>
                <a:spcPts val="134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반복 패턴 자동 추출 → </a:t>
            </a:r>
            <a:pPr algn="l" indent="0" marL="0">
              <a:lnSpc>
                <a:spcPts val="1392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스킬화</a:t>
            </a:r>
            <a:pPr algn="l" indent="0" marL="0">
              <a:lnSpc>
                <a:spcPts val="1392"/>
              </a:lnSpc>
              <a:spcAft>
                <a:spcPts val="134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가능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864557" y="4931046"/>
            <a:ext cx="110476" cy="12747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7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9926" y="1883135"/>
            <a:ext cx="4189584" cy="1147249"/>
          </a:xfrm>
          <a:prstGeom prst="rect">
            <a:avLst/>
          </a:prstGeom>
        </p:spPr>
      </p:pic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4491" y="1883135"/>
            <a:ext cx="4189584" cy="114724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62"/>
            <a:ext cx="9144000" cy="5141375"/>
          </a:xfrm>
          <a:prstGeom prst="roundRect">
            <a:avLst>
              <a:gd name="adj" fmla="val 118"/>
            </a:avLst>
          </a:prstGeom>
          <a:ln/>
          <a:effectLst>
            <a:outerShdw sx="100000" sy="100000" kx="0" ky="0" algn="bl" rotWithShape="0" blurRad="101978" dist="16996" dir="540000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39063" y="178461"/>
            <a:ext cx="1563658" cy="280439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Bef>
                <a:spcPts val="736"/>
              </a:spcBef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향후 계획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9926" y="1054566"/>
            <a:ext cx="4189584" cy="1147249"/>
          </a:xfrm>
          <a:prstGeom prst="roundRect">
            <a:avLst>
              <a:gd name="adj" fmla="val 3542"/>
            </a:avLst>
          </a:prstGeom>
          <a:solidFill>
            <a:srgbClr val="F8F8F8"/>
          </a:solidFill>
          <a:ln/>
        </p:spPr>
      </p:sp>
      <p:sp>
        <p:nvSpPr>
          <p:cNvPr id="5" name="Text 3"/>
          <p:cNvSpPr/>
          <p:nvPr/>
        </p:nvSpPr>
        <p:spPr>
          <a:xfrm>
            <a:off x="492892" y="1147249"/>
            <a:ext cx="3909145" cy="15296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68"/>
              </a:spcAft>
              <a:buNone/>
            </a:pPr>
            <a:r>
              <a:rPr lang="en-US" sz="9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멀티모델 파이프라인 고도화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92892" y="1333345"/>
            <a:ext cx="3909145" cy="178461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92"/>
              </a:lnSpc>
              <a:spcAft>
                <a:spcPts val="134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</a:t>
            </a:r>
            <a:pPr algn="l" indent="0" marL="0">
              <a:lnSpc>
                <a:spcPts val="1392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Haiku</a:t>
            </a:r>
            <a:pPr algn="l" indent="0" marL="0">
              <a:lnSpc>
                <a:spcPts val="1392"/>
              </a:lnSpc>
              <a:spcAft>
                <a:spcPts val="134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 접수·라우팅 (빠른 분류)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92892" y="1527076"/>
            <a:ext cx="3909145" cy="178461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92"/>
              </a:lnSpc>
              <a:spcAft>
                <a:spcPts val="134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</a:t>
            </a:r>
            <a:pPr algn="l" indent="0" marL="0">
              <a:lnSpc>
                <a:spcPts val="1392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Opus</a:t>
            </a:r>
            <a:pPr algn="l" indent="0" marL="0">
              <a:lnSpc>
                <a:spcPts val="1392"/>
              </a:lnSpc>
              <a:spcAft>
                <a:spcPts val="134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 이미지 분석 (장비 사진·도면)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92892" y="1720807"/>
            <a:ext cx="3909145" cy="178461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92"/>
              </a:lnSpc>
              <a:spcAft>
                <a:spcPts val="134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</a:t>
            </a:r>
            <a:pPr algn="l" indent="0" marL="0">
              <a:lnSpc>
                <a:spcPts val="1392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Sonnet</a:t>
            </a:r>
            <a:pPr algn="l" indent="0" marL="0">
              <a:lnSpc>
                <a:spcPts val="1392"/>
              </a:lnSpc>
              <a:spcAft>
                <a:spcPts val="134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 일반 기술응답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92892" y="1914538"/>
            <a:ext cx="3909145" cy="178461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92"/>
              </a:lnSpc>
              <a:spcAft>
                <a:spcPts val="134"/>
              </a:spcAft>
              <a:buNone/>
            </a:pPr>
            <a:r>
              <a:rPr lang="en-US" sz="800" b="1" dirty="0">
                <a:solidFill>
                  <a:srgbClr val="1565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비용 최적화 + 품질 극대화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614491" y="1054566"/>
            <a:ext cx="4189584" cy="1147249"/>
          </a:xfrm>
          <a:prstGeom prst="roundRect">
            <a:avLst>
              <a:gd name="adj" fmla="val 3542"/>
            </a:avLst>
          </a:prstGeom>
          <a:solidFill>
            <a:srgbClr val="F8F8F8"/>
          </a:solidFill>
          <a:ln/>
        </p:spPr>
      </p:sp>
      <p:sp>
        <p:nvSpPr>
          <p:cNvPr id="11" name="Text 9"/>
          <p:cNvSpPr/>
          <p:nvPr/>
        </p:nvSpPr>
        <p:spPr>
          <a:xfrm>
            <a:off x="4767457" y="1147249"/>
            <a:ext cx="3909145" cy="15296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68"/>
              </a:spcAft>
              <a:buNone/>
            </a:pPr>
            <a:r>
              <a:rPr lang="en-US" sz="9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JSONL 축적 → 자가학습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67457" y="1333345"/>
            <a:ext cx="3909145" cy="178461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92"/>
              </a:lnSpc>
              <a:spcAft>
                <a:spcPts val="134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모든 CS 세션을 JSONL 로그로 축적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767457" y="1527076"/>
            <a:ext cx="3909145" cy="178461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92"/>
              </a:lnSpc>
              <a:spcAft>
                <a:spcPts val="134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반복 패턴 자동 추출 → 스킬 생성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767457" y="1720807"/>
            <a:ext cx="3909145" cy="178461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92"/>
              </a:lnSpc>
              <a:spcAft>
                <a:spcPts val="134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시간이 갈수록 응답 정확도 향상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767457" y="1914538"/>
            <a:ext cx="3909145" cy="178461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92"/>
              </a:lnSpc>
              <a:spcAft>
                <a:spcPts val="134"/>
              </a:spcAft>
              <a:buNone/>
            </a:pPr>
            <a:r>
              <a:rPr lang="en-US" sz="800" b="1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운영할수록 똑똑해지는 시스템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39926" y="2390368"/>
            <a:ext cx="4189584" cy="1147249"/>
          </a:xfrm>
          <a:prstGeom prst="roundRect">
            <a:avLst>
              <a:gd name="adj" fmla="val 3542"/>
            </a:avLst>
          </a:prstGeom>
          <a:solidFill>
            <a:srgbClr val="F8F8F8"/>
          </a:solidFill>
          <a:ln/>
        </p:spPr>
      </p:sp>
      <p:sp>
        <p:nvSpPr>
          <p:cNvPr id="17" name="Text 15"/>
          <p:cNvSpPr/>
          <p:nvPr/>
        </p:nvSpPr>
        <p:spPr>
          <a:xfrm>
            <a:off x="492892" y="2483051"/>
            <a:ext cx="3909145" cy="15296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68"/>
              </a:spcAft>
              <a:buNone/>
            </a:pPr>
            <a:r>
              <a:rPr lang="en-US" sz="9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다국어 CS 대응 강화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2892" y="2669147"/>
            <a:ext cx="3909145" cy="178461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92"/>
              </a:lnSpc>
              <a:spcAft>
                <a:spcPts val="134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7개국 60+ 고객사 기술지원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92892" y="2862878"/>
            <a:ext cx="3909145" cy="178461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92"/>
              </a:lnSpc>
              <a:spcAft>
                <a:spcPts val="134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중국/일본/유럽 고객사 직접 응답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92892" y="3056609"/>
            <a:ext cx="3909145" cy="178461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92"/>
              </a:lnSpc>
              <a:spcAft>
                <a:spcPts val="134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매뉴얼 자동 번역 (한↔영↔중)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92892" y="3250340"/>
            <a:ext cx="3909145" cy="178461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92"/>
              </a:lnSpc>
              <a:spcAft>
                <a:spcPts val="134"/>
              </a:spcAft>
              <a:buNone/>
            </a:pPr>
            <a:r>
              <a:rPr lang="en-US" sz="8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해외 CS 대응시간 혁신적 단축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614491" y="2390368"/>
            <a:ext cx="4189584" cy="1147249"/>
          </a:xfrm>
          <a:prstGeom prst="roundRect">
            <a:avLst>
              <a:gd name="adj" fmla="val 3542"/>
            </a:avLst>
          </a:prstGeom>
          <a:solidFill>
            <a:srgbClr val="F8F8F8"/>
          </a:solidFill>
          <a:ln/>
        </p:spPr>
      </p:sp>
      <p:sp>
        <p:nvSpPr>
          <p:cNvPr id="23" name="Text 21"/>
          <p:cNvSpPr/>
          <p:nvPr/>
        </p:nvSpPr>
        <p:spPr>
          <a:xfrm>
            <a:off x="4767457" y="2483051"/>
            <a:ext cx="3909145" cy="15296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68"/>
              </a:spcAft>
              <a:buNone/>
            </a:pPr>
            <a:r>
              <a:rPr lang="en-US" sz="9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데이터 완성도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67457" y="2669147"/>
            <a:ext cx="3909145" cy="178461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92"/>
              </a:lnSpc>
              <a:spcAft>
                <a:spcPts val="134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부품매뉴얼: </a:t>
            </a:r>
            <a:pPr algn="l" indent="0" marL="0">
              <a:lnSpc>
                <a:spcPts val="1392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892/892개 (100%)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67457" y="2862878"/>
            <a:ext cx="3909145" cy="178461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92"/>
              </a:lnSpc>
              <a:spcAft>
                <a:spcPts val="134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WTA매뉴얼: </a:t>
            </a:r>
            <a:pPr algn="l" indent="0" marL="0">
              <a:lnSpc>
                <a:spcPts val="1392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656/656파일 (99.7%)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67457" y="3056609"/>
            <a:ext cx="3909145" cy="178461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92"/>
              </a:lnSpc>
              <a:spcAft>
                <a:spcPts val="134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CS이력: </a:t>
            </a:r>
            <a:pPr algn="l" indent="0" marL="0">
              <a:lnSpc>
                <a:spcPts val="1392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3,318건</a:t>
            </a:r>
            <a:pPr algn="l" indent="0" marL="0">
              <a:lnSpc>
                <a:spcPts val="1392"/>
              </a:lnSpc>
              <a:spcAft>
                <a:spcPts val="134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임베딩 완료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67457" y="3250340"/>
            <a:ext cx="3909145" cy="178461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92"/>
              </a:lnSpc>
              <a:spcAft>
                <a:spcPts val="134"/>
              </a:spcAft>
              <a:buNone/>
            </a:pPr>
            <a:r>
              <a:rPr lang="en-US" sz="800" b="1" dirty="0">
                <a:solidFill>
                  <a:srgbClr val="CC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핵심 데이터 학습 거의 완료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864557" y="4931046"/>
            <a:ext cx="110476" cy="12747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70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9926" y="1054566"/>
            <a:ext cx="4189584" cy="1147249"/>
          </a:xfrm>
          <a:prstGeom prst="rect">
            <a:avLst/>
          </a:prstGeom>
        </p:spPr>
      </p:pic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4491" y="1054566"/>
            <a:ext cx="4189584" cy="1147249"/>
          </a:xfrm>
          <a:prstGeom prst="rect">
            <a:avLst/>
          </a:prstGeom>
        </p:spPr>
      </p:pic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9926" y="2390368"/>
            <a:ext cx="4189584" cy="1147249"/>
          </a:xfrm>
          <a:prstGeom prst="rect">
            <a:avLst/>
          </a:prstGeom>
        </p:spPr>
      </p:pic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14491" y="2390368"/>
            <a:ext cx="4189584" cy="114724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62"/>
            <a:ext cx="9144000" cy="5141375"/>
          </a:xfrm>
          <a:prstGeom prst="roundRect">
            <a:avLst>
              <a:gd name="adj" fmla="val 118"/>
            </a:avLst>
          </a:prstGeom>
          <a:ln/>
          <a:effectLst>
            <a:outerShdw sx="100000" sy="100000" kx="0" ky="0" algn="bl" rotWithShape="0" blurRad="101978" dist="16996" dir="5400000">
              <a:srgbClr val="000000">
                <a:alpha val="15000"/>
              </a:srgbClr>
            </a:outerShdw>
          </a:effectLst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2026-04-06T05:32:02Z</dcterms:created>
  <dcterms:modified xsi:type="dcterms:W3CDTF">2026-04-06T05:32:02Z</dcterms:modified>
</cp:coreProperties>
</file>