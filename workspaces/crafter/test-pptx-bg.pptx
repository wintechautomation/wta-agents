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78"/>
            <a:ext cx="9144000" cy="5141343"/>
          </a:xfrm>
          <a:prstGeom prst="roundRect">
            <a:avLst>
              <a:gd name="adj" fmla="val 119"/>
            </a:avLst>
          </a:prstGeom>
          <a:ln/>
          <a:effectLst>
            <a:outerShdw sx="100000" sy="100000" kx="0" ky="0" algn="bl" rotWithShape="0" blurRad="103517" dist="17253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88159" y="1710996"/>
            <a:ext cx="4063042" cy="37956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2"/>
              </a:lnSpc>
              <a:spcAft>
                <a:spcPts val="679"/>
              </a:spcAft>
              <a:buNone/>
            </a:pPr>
            <a:r>
              <a:rPr lang="en-US" sz="2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매뉴얼 RAG AI 구축 성과 보고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89844" y="2177631"/>
            <a:ext cx="4451230" cy="23291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34"/>
              </a:lnSpc>
              <a:spcAft>
                <a:spcPts val="1902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 매뉴얼 관리에서 AI 자동 생성 · 의미 검색 체계로의 전환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9709" y="2650196"/>
            <a:ext cx="2277374" cy="65560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12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(주)윈텍오토메이션 생산관리팀 (AI운영팀)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lnSpc>
                <a:spcPts val="1712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4월 월간회의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lnSpc>
                <a:spcPts val="1712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47563" y="3217653"/>
            <a:ext cx="112143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78"/>
            <a:ext cx="9144000" cy="5141343"/>
          </a:xfrm>
          <a:prstGeom prst="roundRect">
            <a:avLst>
              <a:gd name="adj" fmla="val 119"/>
            </a:avLst>
          </a:prstGeom>
          <a:ln/>
          <a:effectLst>
            <a:outerShdw sx="100000" sy="100000" kx="0" ky="0" algn="bl" rotWithShape="0" blurRad="103517" dist="17253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44180" y="181155"/>
            <a:ext cx="3856008" cy="2846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747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배경 &amp; AS-IS / TO-BE 전환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562" y="828136"/>
            <a:ext cx="8384875" cy="258792"/>
          </a:xfrm>
          <a:prstGeom prst="rect">
            <a:avLst/>
          </a:prstGeom>
          <a:ln/>
        </p:spPr>
      </p:sp>
      <p:sp>
        <p:nvSpPr>
          <p:cNvPr id="5" name="Text 3"/>
          <p:cNvSpPr/>
          <p:nvPr/>
        </p:nvSpPr>
        <p:spPr>
          <a:xfrm>
            <a:off x="381315" y="828136"/>
            <a:ext cx="2820838" cy="17252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 매뉴얼 관리 → AI 자동 생성 체계로 전환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66858" y="862642"/>
            <a:ext cx="2199736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2026-04 · (주)윈텍오토메이션 생산관리팀(AI운영팀)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79562" y="1374565"/>
            <a:ext cx="8384875" cy="46582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48"/>
              </a:lnSpc>
              <a:spcAft>
                <a:spcPts val="408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사용자 매뉴얼·안전 스티커·제품 데이터시트·CS 응대 기록을 </a:t>
            </a:r>
            <a:pPr algn="l" indent="0" marL="0">
              <a:lnSpc>
                <a:spcPts val="1848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개인이 수작업</a:t>
            </a:r>
            <a:pPr algn="l" indent="0" marL="0">
              <a:lnSpc>
                <a:spcPts val="1848"/>
              </a:lnSpc>
              <a:spcAft>
                <a:spcPts val="408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관리해 왔으며, AI가 학습하여 </a:t>
            </a:r>
            <a:pPr algn="l" indent="0" marL="0">
              <a:lnSpc>
                <a:spcPts val="1848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생성·의미 검색·다국어 대응</a:t>
            </a:r>
            <a:pPr algn="l" indent="0" marL="0">
              <a:lnSpc>
                <a:spcPts val="1848"/>
              </a:lnSpc>
              <a:spcAft>
                <a:spcPts val="408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체계로 전환을 완료했습니다.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9562" y="2178035"/>
            <a:ext cx="8384875" cy="1630392"/>
          </a:xfrm>
          <a:prstGeom prst="roundRect">
            <a:avLst>
              <a:gd name="adj" fmla="val 2374"/>
            </a:avLst>
          </a:prstGeom>
          <a:ln w="8626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8189" y="2186661"/>
            <a:ext cx="4183811" cy="161314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26211" y="2309049"/>
            <a:ext cx="3899140" cy="1552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9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(수작업 중심)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2186661"/>
            <a:ext cx="4183811" cy="161314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12" name="Text 10"/>
          <p:cNvSpPr/>
          <p:nvPr/>
        </p:nvSpPr>
        <p:spPr>
          <a:xfrm>
            <a:off x="4710023" y="2309049"/>
            <a:ext cx="3907766" cy="1552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9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(RAG AI 체계)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9562" y="4091953"/>
            <a:ext cx="8384875" cy="681487"/>
          </a:xfrm>
          <a:prstGeom prst="roundRect">
            <a:avLst>
              <a:gd name="adj" fmla="val 3397"/>
            </a:avLst>
          </a:prstGeom>
          <a:solidFill>
            <a:srgbClr val="F8F8F8"/>
          </a:solidFill>
          <a:ln/>
        </p:spPr>
      </p:sp>
      <p:sp>
        <p:nvSpPr>
          <p:cNvPr id="14" name="Text 12"/>
          <p:cNvSpPr/>
          <p:nvPr/>
        </p:nvSpPr>
        <p:spPr>
          <a:xfrm>
            <a:off x="569343" y="4222226"/>
            <a:ext cx="8031192" cy="17252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성과 요약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9343" y="4445636"/>
            <a:ext cx="8031192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매뉴얼 작성·CS 응대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리드타임 단축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담당자 의존도 감소 · 직원 개인 경험 →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벡터 자산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축적, 다국어·해외법인 동시 대응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-241540" y="4927840"/>
            <a:ext cx="9144000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7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9562" y="828136"/>
            <a:ext cx="8384875" cy="258792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189" y="2186661"/>
            <a:ext cx="4183811" cy="16131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6211" y="2514465"/>
            <a:ext cx="3899140" cy="115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1명이 장비별 매뉴얼 직접 작성 — </a:t>
            </a:r>
            <a:pPr algn="l" indent="0" marL="0">
              <a:lnSpc>
                <a:spcPts val="1457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수일~수주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소요</a:t>
            </a:r>
            <a:endParaRPr lang="en-US" sz="883" dirty="0"/>
          </a:p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PDF·Word 파일 개인 PC/공유폴더 분산 저장, </a:t>
            </a:r>
            <a:pPr algn="l" indent="0" marL="0">
              <a:lnSpc>
                <a:spcPts val="1457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파일명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검색 의존</a:t>
            </a:r>
            <a:endParaRPr lang="en-US" sz="883" dirty="0"/>
          </a:p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사양·품명 변경 시 </a:t>
            </a:r>
            <a:pPr algn="l" indent="0" marL="0">
              <a:lnSpc>
                <a:spcPts val="1457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 갱신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필요</a:t>
            </a:r>
            <a:endParaRPr lang="en-US" sz="883" dirty="0"/>
          </a:p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번역은 외주 또는 수작업, 영/중 매뉴얼 별도 관리</a:t>
            </a:r>
            <a:endParaRPr lang="en-US" sz="883" dirty="0"/>
          </a:p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응대 시 엔지니어에게 </a:t>
            </a:r>
            <a:pPr algn="l" indent="0" marL="0">
              <a:lnSpc>
                <a:spcPts val="1457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재문의 → 회신 대기</a:t>
            </a:r>
            <a:endParaRPr lang="en-US" sz="883" dirty="0"/>
          </a:p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편차·퇴사 시 개인 지식 소실</a:t>
            </a:r>
            <a:endParaRPr lang="en-US" sz="883" dirty="0"/>
          </a:p>
        </p:txBody>
      </p:sp>
      <p:sp>
        <p:nvSpPr>
          <p:cNvPr id="20" name="Text 16"/>
          <p:cNvSpPr/>
          <p:nvPr/>
        </p:nvSpPr>
        <p:spPr>
          <a:xfrm>
            <a:off x="4710023" y="2514465"/>
            <a:ext cx="3907766" cy="115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 장비·부품 매뉴얼 기반 </a:t>
            </a:r>
            <a:pPr algn="l" indent="0" marL="0">
              <a:lnSpc>
                <a:spcPts val="1457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 즉시 자동 생성</a:t>
            </a:r>
            <a:endParaRPr lang="en-US" sz="883" dirty="0"/>
          </a:p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PostgreSQL pgvector 중앙 저장, </a:t>
            </a:r>
            <a:pPr algn="l" indent="0" marL="0">
              <a:lnSpc>
                <a:spcPts val="1457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 질의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가능</a:t>
            </a:r>
            <a:endParaRPr lang="en-US" sz="883" dirty="0"/>
          </a:p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한·영·중 </a:t>
            </a:r>
            <a:pPr algn="l" indent="0" marL="0">
              <a:lnSpc>
                <a:spcPts val="1457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벡터 공간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통합 검색, 언어 변환 자동화</a:t>
            </a:r>
            <a:endParaRPr lang="en-US" sz="883" dirty="0"/>
          </a:p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슬랙 #cs 봇이 과거 이력 기반 </a:t>
            </a:r>
            <a:pPr algn="l" indent="0" marL="0">
              <a:lnSpc>
                <a:spcPts val="1457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자동 답변</a:t>
            </a:r>
            <a:endParaRPr lang="en-US" sz="883" dirty="0"/>
          </a:p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부품·사양 변경 시 신규 문서만 재임베딩 → </a:t>
            </a:r>
            <a:pPr algn="l" indent="0" marL="0">
              <a:lnSpc>
                <a:spcPts val="1457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 유지</a:t>
            </a:r>
            <a:endParaRPr lang="en-US" sz="883" dirty="0"/>
          </a:p>
          <a:p>
            <a:pPr algn="l" marL="138023" indent="-138023">
              <a:lnSpc>
                <a:spcPts val="1457"/>
              </a:lnSpc>
              <a:spcAft>
                <a:spcPts val="68"/>
              </a:spcAft>
              <a:buSzPct val="100000"/>
              <a:buChar char="•"/>
            </a:pPr>
            <a:r>
              <a:rPr lang="en-US" sz="883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57"/>
              </a:lnSpc>
              <a:spcAft>
                <a:spcPts val="68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직원·해외법인·신입 사원 </a:t>
            </a:r>
            <a:pPr algn="l" indent="0" marL="0">
              <a:lnSpc>
                <a:spcPts val="1457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수준 조회</a:t>
            </a:r>
            <a:endParaRPr lang="en-US" sz="883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9562" y="4091953"/>
            <a:ext cx="8384875" cy="6814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78"/>
            <a:ext cx="9144000" cy="5141343"/>
          </a:xfrm>
          <a:prstGeom prst="roundRect">
            <a:avLst>
              <a:gd name="adj" fmla="val 119"/>
            </a:avLst>
          </a:prstGeom>
          <a:ln/>
          <a:effectLst>
            <a:outerShdw sx="100000" sy="100000" kx="0" ky="0" algn="bl" rotWithShape="0" blurRad="103517" dist="17253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45394" y="181155"/>
            <a:ext cx="3597215" cy="2846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747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시스템 구조 &amp; 핵심 성과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247" y="828136"/>
            <a:ext cx="1466491" cy="448574"/>
          </a:xfrm>
          <a:prstGeom prst="roundRect">
            <a:avLst>
              <a:gd name="adj" fmla="val 7840"/>
            </a:avLst>
          </a:prstGeom>
          <a:solidFill>
            <a:srgbClr val="FFFFFF"/>
          </a:solidFill>
          <a:ln w="17253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0258" y="914400"/>
            <a:ext cx="1328468" cy="13802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6"/>
              </a:spcAft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0258" y="1069675"/>
            <a:ext cx="1328468" cy="1207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1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PDF·DOCX·HTML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1901181" y="948906"/>
            <a:ext cx="155275" cy="20703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9967" y="828136"/>
            <a:ext cx="1466491" cy="448574"/>
          </a:xfrm>
          <a:prstGeom prst="roundRect">
            <a:avLst>
              <a:gd name="adj" fmla="val 7840"/>
            </a:avLst>
          </a:prstGeom>
          <a:solidFill>
            <a:srgbClr val="FFFFFF"/>
          </a:solidFill>
          <a:ln w="17253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8979" y="914400"/>
            <a:ext cx="1328468" cy="13802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6"/>
              </a:spcAft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Docling 파싱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78979" y="1069675"/>
            <a:ext cx="1328468" cy="1207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1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텍스트·표·이미지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629969" y="948906"/>
            <a:ext cx="155275" cy="20703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38687" y="828136"/>
            <a:ext cx="1466491" cy="448574"/>
          </a:xfrm>
          <a:prstGeom prst="roundRect">
            <a:avLst>
              <a:gd name="adj" fmla="val 7840"/>
            </a:avLst>
          </a:prstGeom>
          <a:solidFill>
            <a:srgbClr val="FFFFFF"/>
          </a:solidFill>
          <a:ln w="17253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07699" y="914400"/>
            <a:ext cx="1328468" cy="13802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6"/>
              </a:spcAft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청킹·벡터화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907699" y="1069675"/>
            <a:ext cx="1328468" cy="1207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1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Qwen3-Embedding-8B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358621" y="948906"/>
            <a:ext cx="155275" cy="20703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67407" y="828136"/>
            <a:ext cx="1466491" cy="448574"/>
          </a:xfrm>
          <a:prstGeom prst="roundRect">
            <a:avLst>
              <a:gd name="adj" fmla="val 7840"/>
            </a:avLst>
          </a:prstGeom>
          <a:solidFill>
            <a:srgbClr val="FFFFFF"/>
          </a:solidFill>
          <a:ln w="17253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6419" y="914400"/>
            <a:ext cx="1328468" cy="13802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6"/>
              </a:spcAft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pgvector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36419" y="1069675"/>
            <a:ext cx="1328468" cy="1207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1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PostgreSQL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7087409" y="948906"/>
            <a:ext cx="155275" cy="20703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96195" y="828136"/>
            <a:ext cx="1466491" cy="448574"/>
          </a:xfrm>
          <a:prstGeom prst="roundRect">
            <a:avLst>
              <a:gd name="adj" fmla="val 7840"/>
            </a:avLst>
          </a:prstGeom>
          <a:solidFill>
            <a:srgbClr val="FFFFFF"/>
          </a:solidFill>
          <a:ln w="17253">
            <a:solidFill>
              <a:srgbClr val="C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5206" y="914400"/>
            <a:ext cx="1328468" cy="13802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6"/>
              </a:spcAft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답변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65206" y="1069675"/>
            <a:ext cx="1328468" cy="12077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1"/>
              </a:lnSpc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검색+LLM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379562" y="1714904"/>
            <a:ext cx="2044460" cy="750498"/>
          </a:xfrm>
          <a:prstGeom prst="roundRect">
            <a:avLst>
              <a:gd name="adj" fmla="val 2801"/>
            </a:avLst>
          </a:prstGeom>
          <a:solidFill>
            <a:srgbClr val="F8F8F8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809795"/>
            <a:ext cx="1889185" cy="27604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74"/>
              </a:lnSpc>
              <a:buNone/>
            </a:pPr>
            <a:r>
              <a:rPr lang="en-US" sz="21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1,482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57200" y="2120346"/>
            <a:ext cx="1889185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272"/>
              </a:spcBef>
              <a:buNone/>
            </a:pPr>
            <a:r>
              <a:rPr lang="en-US" sz="7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문서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57200" y="2258369"/>
            <a:ext cx="1889185" cy="11214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매뉴얼+CS 이력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2493034" y="1714904"/>
            <a:ext cx="2044460" cy="750498"/>
          </a:xfrm>
          <a:prstGeom prst="roundRect">
            <a:avLst>
              <a:gd name="adj" fmla="val 2801"/>
            </a:avLst>
          </a:prstGeom>
          <a:solidFill>
            <a:srgbClr val="F8F8F8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0672" y="1809795"/>
            <a:ext cx="1889185" cy="27604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74"/>
              </a:lnSpc>
              <a:buNone/>
            </a:pPr>
            <a:r>
              <a:rPr lang="en-US" sz="21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389K+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2570672" y="2120346"/>
            <a:ext cx="1889185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272"/>
              </a:spcBef>
              <a:buNone/>
            </a:pPr>
            <a:r>
              <a:rPr lang="en-US" sz="7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 청크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570672" y="2258369"/>
            <a:ext cx="1889185" cy="11214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테이블 합산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4606506" y="1714904"/>
            <a:ext cx="2044460" cy="750498"/>
          </a:xfrm>
          <a:prstGeom prst="roundRect">
            <a:avLst>
              <a:gd name="adj" fmla="val 2801"/>
            </a:avLst>
          </a:prstGeom>
          <a:solidFill>
            <a:srgbClr val="F8F8F8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4143" y="1809795"/>
            <a:ext cx="1889185" cy="27604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74"/>
              </a:lnSpc>
              <a:buNone/>
            </a:pPr>
            <a:r>
              <a:rPr lang="en-US" sz="2100" b="1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4684143" y="2120346"/>
            <a:ext cx="1889185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272"/>
              </a:spcBef>
              <a:buNone/>
            </a:pPr>
            <a:r>
              <a:rPr lang="en-US" sz="7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 차원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684143" y="2258369"/>
            <a:ext cx="1889185" cy="11214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멀티링궐 통일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6719977" y="1714904"/>
            <a:ext cx="2044460" cy="750498"/>
          </a:xfrm>
          <a:prstGeom prst="roundRect">
            <a:avLst>
              <a:gd name="adj" fmla="val 2801"/>
            </a:avLst>
          </a:prstGeom>
          <a:solidFill>
            <a:srgbClr val="F8F8F8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97615" y="1809795"/>
            <a:ext cx="1889185" cy="27604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74"/>
              </a:lnSpc>
              <a:buNone/>
            </a:pPr>
            <a:r>
              <a:rPr lang="en-US" sz="21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91%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6797615" y="2120346"/>
            <a:ext cx="1889185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272"/>
              </a:spcBef>
              <a:buNone/>
            </a:pPr>
            <a:r>
              <a:rPr lang="en-US" sz="7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 진행률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797615" y="2258369"/>
            <a:ext cx="1889185" cy="112143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8"/>
              </a:spcBef>
              <a:buNone/>
            </a:pPr>
            <a:r>
              <a:rPr lang="en-US" sz="6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매뉴얼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380978" y="2904271"/>
            <a:ext cx="2734574" cy="1268083"/>
          </a:xfrm>
          <a:prstGeom prst="roundRect">
            <a:avLst>
              <a:gd name="adj" fmla="val 3924"/>
            </a:avLst>
          </a:prstGeom>
          <a:solidFill>
            <a:srgbClr val="F8F8F8"/>
          </a:solidFill>
          <a:ln/>
        </p:spPr>
      </p:sp>
      <p:sp>
        <p:nvSpPr>
          <p:cNvPr id="40" name="Text 38"/>
          <p:cNvSpPr/>
          <p:nvPr/>
        </p:nvSpPr>
        <p:spPr>
          <a:xfrm>
            <a:off x="570759" y="3032859"/>
            <a:ext cx="2380891" cy="17252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매뉴얼 (외부)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0759" y="3256270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파싱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892 / 892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완료 (100%)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70759" y="3452925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임베딩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810 / 892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(91%) — 265,635 청크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70759" y="3649580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로봇·서보·센서·HMI·PLC 8개 카테고리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70759" y="3846235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테이블: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manual.documents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04646" y="2904271"/>
            <a:ext cx="2734574" cy="1268083"/>
          </a:xfrm>
          <a:prstGeom prst="roundRect">
            <a:avLst>
              <a:gd name="adj" fmla="val 3924"/>
            </a:avLst>
          </a:prstGeom>
          <a:solidFill>
            <a:srgbClr val="F8F8F8"/>
          </a:solidFill>
          <a:ln/>
        </p:spPr>
      </p:sp>
      <p:sp>
        <p:nvSpPr>
          <p:cNvPr id="46" name="Text 44"/>
          <p:cNvSpPr/>
          <p:nvPr/>
        </p:nvSpPr>
        <p:spPr>
          <a:xfrm>
            <a:off x="3394427" y="3032859"/>
            <a:ext cx="2380891" cy="17252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이력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94427" y="3256270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임베딩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3,318 / 3,318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완료 (100%)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94427" y="3452925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슬랙 #cs 봇 실전 투입, 고객 질의 자동 매칭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394427" y="3649580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엔지니어 회신 초안 즉시 생성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394427" y="3846235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테이블: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csagent.vector_embeddings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028381" y="2904271"/>
            <a:ext cx="2734574" cy="1268083"/>
          </a:xfrm>
          <a:prstGeom prst="roundRect">
            <a:avLst>
              <a:gd name="adj" fmla="val 3924"/>
            </a:avLst>
          </a:prstGeom>
          <a:solidFill>
            <a:srgbClr val="F8F8F8"/>
          </a:solidFill>
          <a:ln/>
        </p:spPr>
      </p:sp>
      <p:sp>
        <p:nvSpPr>
          <p:cNvPr id="52" name="Text 50"/>
          <p:cNvSpPr/>
          <p:nvPr/>
        </p:nvSpPr>
        <p:spPr>
          <a:xfrm>
            <a:off x="6218163" y="3032859"/>
            <a:ext cx="2380891" cy="17252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WTA 자체 매뉴얼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18163" y="3256270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수집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590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완료, 파싱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321/590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(54%)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218163" y="3452925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120,084 청크 확보, Docling 고품질 파서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218163" y="3649580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4~5월 내 파싱 100% 목표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218163" y="3846235"/>
            <a:ext cx="2380891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테이블: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manual.wta_documents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79562" y="4610010"/>
            <a:ext cx="8384875" cy="16390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7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인프라: PostgreSQL pgvector · 임베딩 Qwen3-Embedding-8B · 파서 Docling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-241540" y="4927840"/>
            <a:ext cx="9144000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700" dirty="0"/>
          </a:p>
        </p:txBody>
      </p:sp>
      <p:pic>
        <p:nvPicPr>
          <p:cNvPr id="5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0978" y="2904271"/>
            <a:ext cx="2734574" cy="1268083"/>
          </a:xfrm>
          <a:prstGeom prst="rect">
            <a:avLst/>
          </a:prstGeom>
        </p:spPr>
      </p:pic>
      <p:pic>
        <p:nvPicPr>
          <p:cNvPr id="6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4646" y="2904271"/>
            <a:ext cx="2734574" cy="1268083"/>
          </a:xfrm>
          <a:prstGeom prst="rect">
            <a:avLst/>
          </a:prstGeom>
        </p:spPr>
      </p:pic>
      <p:pic>
        <p:nvPicPr>
          <p:cNvPr id="6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8381" y="2904271"/>
            <a:ext cx="2734574" cy="12680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78"/>
            <a:ext cx="9144000" cy="5141343"/>
          </a:xfrm>
          <a:prstGeom prst="roundRect">
            <a:avLst>
              <a:gd name="adj" fmla="val 119"/>
            </a:avLst>
          </a:prstGeom>
          <a:ln/>
          <a:effectLst>
            <a:outerShdw sx="100000" sy="100000" kx="0" ky="0" algn="bl" rotWithShape="0" blurRad="103517" dist="17253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46674" y="181155"/>
            <a:ext cx="3148642" cy="2846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747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 업무 활용 &amp; 향후 계획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562" y="826316"/>
            <a:ext cx="4140679" cy="1828800"/>
          </a:xfrm>
          <a:prstGeom prst="roundRect">
            <a:avLst>
              <a:gd name="adj" fmla="val 1887"/>
            </a:avLst>
          </a:prstGeom>
          <a:solidFill>
            <a:srgbClr val="F8F8F8"/>
          </a:solidFill>
          <a:ln/>
        </p:spPr>
      </p:sp>
      <p:sp>
        <p:nvSpPr>
          <p:cNvPr id="5" name="Text 3"/>
          <p:cNvSpPr/>
          <p:nvPr/>
        </p:nvSpPr>
        <p:spPr>
          <a:xfrm>
            <a:off x="569343" y="957532"/>
            <a:ext cx="3786996" cy="17252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활용 중 (실운영)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23758" y="826316"/>
            <a:ext cx="4140679" cy="1828800"/>
          </a:xfrm>
          <a:prstGeom prst="roundRect">
            <a:avLst>
              <a:gd name="adj" fmla="val 1887"/>
            </a:avLst>
          </a:prstGeom>
          <a:solidFill>
            <a:srgbClr val="F8F8F8"/>
          </a:solidFill>
          <a:ln/>
        </p:spPr>
      </p:sp>
      <p:sp>
        <p:nvSpPr>
          <p:cNvPr id="7" name="Text 5"/>
          <p:cNvSpPr/>
          <p:nvPr/>
        </p:nvSpPr>
        <p:spPr>
          <a:xfrm>
            <a:off x="4813540" y="957532"/>
            <a:ext cx="3786996" cy="17252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계획 (2026 2Q 로드맵)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9562" y="3701204"/>
            <a:ext cx="8384875" cy="1069675"/>
          </a:xfrm>
          <a:prstGeom prst="roundRect">
            <a:avLst>
              <a:gd name="adj" fmla="val 5515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569343" y="3828915"/>
            <a:ext cx="8031192" cy="17252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부서장 확인·승인 요청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9343" y="4052326"/>
            <a:ext cx="8031192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임베딩 서버(Qwen3-Embedding-8B)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이중화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필요성 검토 — 현재 단일 서버 의존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9343" y="4248981"/>
            <a:ext cx="8031192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장비 매뉴얼 AI 초안 → 최종 검수 프로세스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워크플로우 확정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9343" y="4445636"/>
            <a:ext cx="8031192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QC 체크리스트 벡터화 범위 확정 — 출하검사 기준서 포함 여부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-241540" y="4927840"/>
            <a:ext cx="9144000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7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9562" y="826316"/>
            <a:ext cx="4140679" cy="18288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69343" y="1179999"/>
            <a:ext cx="3786996" cy="1328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자동 응대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슬랙 #cs 봇이 고객 질의에 1차 답변, 엔지니어는 검수·보완만</a:t>
            </a:r>
            <a:endParaRPr lang="en-US" sz="883" dirty="0"/>
          </a:p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매뉴얼 초안 생성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유사 장비·부품 매뉴얼 기반 자동 작성 → 편집 후 릴리스</a:t>
            </a:r>
            <a:endParaRPr lang="en-US" sz="883" dirty="0"/>
          </a:p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지식 검색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전 직원 자연어 질의, 신규 입사자 온보딩 단축</a:t>
            </a:r>
            <a:endParaRPr lang="en-US" sz="883" dirty="0"/>
          </a:p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대응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해외 7개국 60+ 고객사, 한·영·중 통합 검색</a:t>
            </a:r>
            <a:endParaRPr lang="en-US" sz="883" dirty="0"/>
          </a:p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사양 조회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로봇·서보·센서·HMI·PLC 전 카테고리 즉시 확인</a:t>
            </a:r>
            <a:endParaRPr lang="en-US" sz="883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3758" y="826316"/>
            <a:ext cx="4140679" cy="18288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13540" y="1180875"/>
            <a:ext cx="3786996" cy="116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부품 매뉴얼 임베딩 100% 완료 (잔여 82개)</a:t>
            </a:r>
            <a:endParaRPr lang="en-US" sz="883" dirty="0"/>
          </a:p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4~5월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WTA 자체 매뉴얼 파싱 100% (321→590개)</a:t>
            </a:r>
            <a:endParaRPr lang="en-US" sz="883" dirty="0"/>
          </a:p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5월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QC 체크리스트 벡터화 착수</a:t>
            </a:r>
            <a:endParaRPr lang="en-US" sz="883" dirty="0"/>
          </a:p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5월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안전 스티커·경고 라벨 표준화 템플릿 학습</a:t>
            </a:r>
            <a:endParaRPr lang="en-US" sz="883" dirty="0"/>
          </a:p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6월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Confluence·Jira RAG 3단계 파이프라인 통합</a:t>
            </a:r>
            <a:endParaRPr lang="en-US" sz="883" dirty="0"/>
          </a:p>
          <a:p>
            <a:pPr algn="l" marL="155275" indent="-155275">
              <a:lnSpc>
                <a:spcPts val="1413"/>
              </a:lnSpc>
              <a:spcAft>
                <a:spcPts val="136"/>
              </a:spcAft>
              <a:buSzPct val="100000"/>
              <a:buChar char="•"/>
            </a:pPr>
            <a:r>
              <a:rPr lang="en-US" sz="883" b="1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​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6월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매뉴얼 자동 생성 파이프라인 안정화</a:t>
            </a:r>
            <a:endParaRPr lang="en-US" sz="883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9562" y="3701204"/>
            <a:ext cx="8384875" cy="1069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78"/>
            <a:ext cx="9144000" cy="5141343"/>
          </a:xfrm>
          <a:prstGeom prst="roundRect">
            <a:avLst>
              <a:gd name="adj" fmla="val 119"/>
            </a:avLst>
          </a:prstGeom>
          <a:ln/>
          <a:effectLst>
            <a:outerShdw sx="100000" sy="100000" kx="0" ky="0" algn="bl" rotWithShape="0" blurRad="103517" dist="17253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46674" y="181155"/>
            <a:ext cx="3027872" cy="2846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747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생성된 매뉴얼 견본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9562" y="827260"/>
            <a:ext cx="8384875" cy="20703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17"/>
              </a:lnSpc>
              <a:spcAft>
                <a:spcPts val="543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시스템으로 자동 파싱·구조화된 매뉴얼 사례 — 원문 PDF에서 텍스트·표·이미지를 추출하고 벡터 임베딩까지 완료된 문서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79562" y="1412845"/>
            <a:ext cx="4132053" cy="1147313"/>
          </a:xfrm>
          <a:prstGeom prst="roundRect">
            <a:avLst>
              <a:gd name="adj" fmla="val 4794"/>
            </a:avLst>
          </a:prstGeom>
          <a:solidFill>
            <a:srgbClr val="F8F8F8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69002" y="1506927"/>
            <a:ext cx="629728" cy="146649"/>
          </a:xfrm>
          <a:prstGeom prst="roundRect">
            <a:avLst>
              <a:gd name="adj" fmla="val 27509"/>
            </a:avLst>
          </a:prstGeom>
          <a:solidFill>
            <a:srgbClr val="E8F5E9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자동 파싱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43464" y="1558685"/>
            <a:ext cx="3804249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72"/>
              </a:spcAft>
              <a:buNone/>
            </a:pPr>
            <a:r>
              <a:rPr lang="en-US" sz="7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매뉴얼 — 로봇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3464" y="1722587"/>
            <a:ext cx="3804249" cy="1552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Mitsubishi RH-F 셋업 가이드 (KO)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3464" y="1930430"/>
            <a:ext cx="3804249" cy="16390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4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106페이지, 이미지 15장 추출, 265,635 청크 중 포함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3464" y="2129646"/>
            <a:ext cx="3804249" cy="2846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1"/>
              </a:lnSpc>
              <a:spcBef>
                <a:spcPts val="272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설치 및 배선 · 원점 조정 · 좌표계 설정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lnSpc>
                <a:spcPts val="1121"/>
              </a:lnSpc>
              <a:spcBef>
                <a:spcPts val="272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안전 기능 · 보수 점검 · 에러 코드표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632385" y="1412845"/>
            <a:ext cx="4132053" cy="1147313"/>
          </a:xfrm>
          <a:prstGeom prst="roundRect">
            <a:avLst>
              <a:gd name="adj" fmla="val 4794"/>
            </a:avLst>
          </a:prstGeom>
          <a:solidFill>
            <a:srgbClr val="F8F8F8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21825" y="1506927"/>
            <a:ext cx="629728" cy="146649"/>
          </a:xfrm>
          <a:prstGeom prst="roundRect">
            <a:avLst>
              <a:gd name="adj" fmla="val 27509"/>
            </a:avLst>
          </a:prstGeom>
          <a:solidFill>
            <a:srgbClr val="E8F5E9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자동 파싱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796287" y="1558685"/>
            <a:ext cx="3804249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72"/>
              </a:spcAft>
              <a:buNone/>
            </a:pPr>
            <a:r>
              <a:rPr lang="en-US" sz="7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매뉴얼 — 센서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796287" y="1722587"/>
            <a:ext cx="3804249" cy="1552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Keyence IL-030 통신 매뉴얼 (KO)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96287" y="1930430"/>
            <a:ext cx="3804249" cy="16390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4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 프로토콜·배선도·파라미터 설정 자동 구조화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96287" y="2129646"/>
            <a:ext cx="3804249" cy="2846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1"/>
              </a:lnSpc>
              <a:spcBef>
                <a:spcPts val="272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RS-232C 배선 · 명령어 일람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lnSpc>
                <a:spcPts val="1121"/>
              </a:lnSpc>
              <a:spcBef>
                <a:spcPts val="272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응답 포맷 · 에러 처리 · 연결 사례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79562" y="2680389"/>
            <a:ext cx="4132053" cy="1293962"/>
          </a:xfrm>
          <a:prstGeom prst="roundRect">
            <a:avLst>
              <a:gd name="adj" fmla="val 3769"/>
            </a:avLst>
          </a:prstGeom>
          <a:solidFill>
            <a:srgbClr val="F8F8F8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9002" y="2776627"/>
            <a:ext cx="629728" cy="146649"/>
          </a:xfrm>
          <a:prstGeom prst="roundRect">
            <a:avLst>
              <a:gd name="adj" fmla="val 27509"/>
            </a:avLst>
          </a:prstGeom>
          <a:solidFill>
            <a:srgbClr val="E8F5E9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자동 파싱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543464" y="2828386"/>
            <a:ext cx="3804249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72"/>
              </a:spcAft>
              <a:buNone/>
            </a:pPr>
            <a:r>
              <a:rPr lang="en-US" sz="7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WTA 자체 매뉴얼 — 안전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3464" y="2992288"/>
            <a:ext cx="3804249" cy="1552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PVD 로딩장비 리스크 어세스먼트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3464" y="3200130"/>
            <a:ext cx="3804249" cy="16390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4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진단 체크시트 172항목 + RA 평가표 6건 위험요인 구조화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3464" y="3399347"/>
            <a:ext cx="3804249" cy="2846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1"/>
              </a:lnSpc>
              <a:spcBef>
                <a:spcPts val="272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기계·전기 안전 체크 · 화재·폭발 대책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lnSpc>
                <a:spcPts val="1121"/>
              </a:lnSpc>
              <a:spcBef>
                <a:spcPts val="272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노동위생 · 리스크 S×P×F 평가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32385" y="2680389"/>
            <a:ext cx="4132053" cy="1293962"/>
          </a:xfrm>
          <a:prstGeom prst="roundRect">
            <a:avLst>
              <a:gd name="adj" fmla="val 3769"/>
            </a:avLst>
          </a:prstGeom>
          <a:solidFill>
            <a:srgbClr val="F8F8F8"/>
          </a:solidFill>
          <a:ln w="8626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1825" y="2776627"/>
            <a:ext cx="629728" cy="146649"/>
          </a:xfrm>
          <a:prstGeom prst="roundRect">
            <a:avLst>
              <a:gd name="adj" fmla="val 27509"/>
            </a:avLst>
          </a:prstGeom>
          <a:solidFill>
            <a:srgbClr val="E8F5E9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자동 생성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796287" y="2828386"/>
            <a:ext cx="3804249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72"/>
              </a:spcAft>
              <a:buNone/>
            </a:pPr>
            <a:r>
              <a:rPr lang="en-US" sz="7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이력 — 자동 답변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796287" y="2992288"/>
            <a:ext cx="3804249" cy="15527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8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슬랙 #cs 봇 자동 응대 사례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96287" y="3200130"/>
            <a:ext cx="3804249" cy="16390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4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3,318건 CS 이력 학습 기반, 고객 질의에 1차 답변 즉시 생성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96287" y="3397190"/>
            <a:ext cx="3804249" cy="431321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1"/>
              </a:lnSpc>
              <a:spcBef>
                <a:spcPts val="272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부품 사양 질의 → 스펙 즉시 제공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lnSpc>
                <a:spcPts val="1121"/>
              </a:lnSpc>
              <a:spcBef>
                <a:spcPts val="272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에러코드 → 원인·조치 자동 매칭</a:t>
            </a:r>
            <a:pPr algn="l" indent="0" marL="0">
              <a:buNone/>
            </a:pPr>
            <a:endParaRPr lang="en-US" sz="700" dirty="0"/>
          </a:p>
          <a:p>
            <a:pPr algn="l" indent="0" marL="0">
              <a:lnSpc>
                <a:spcPts val="1121"/>
              </a:lnSpc>
              <a:spcBef>
                <a:spcPts val="272"/>
              </a:spcBef>
              <a:buNone/>
            </a:pPr>
            <a:r>
              <a:rPr lang="en-US" sz="7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다국어(한·영·중) 질의 동시 대응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79562" y="4316240"/>
            <a:ext cx="8384875" cy="457200"/>
          </a:xfrm>
          <a:prstGeom prst="roundRect">
            <a:avLst>
              <a:gd name="adj" fmla="val 7547"/>
            </a:avLst>
          </a:prstGeom>
          <a:solidFill>
            <a:srgbClr val="F8F8F8"/>
          </a:solidFill>
          <a:ln/>
        </p:spPr>
      </p:sp>
      <p:sp>
        <p:nvSpPr>
          <p:cNvPr id="30" name="Text 28"/>
          <p:cNvSpPr/>
          <p:nvPr/>
        </p:nvSpPr>
        <p:spPr>
          <a:xfrm>
            <a:off x="569343" y="4445636"/>
            <a:ext cx="8031192" cy="18115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파싱 품질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Docling 엔진으로 표·수식·다단 레이아웃 정확 추출 | </a:t>
            </a:r>
            <a:pPr algn="l" indent="0" marL="0">
              <a:lnSpc>
                <a:spcPts val="1413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 검색 정확도</a:t>
            </a:r>
            <a:pPr algn="l" indent="0" marL="0">
              <a:lnSpc>
                <a:spcPts val="1413"/>
              </a:lnSpc>
              <a:spcAft>
                <a:spcPts val="136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cosine similarity 기반 Top-5 매칭, 기술 용어 정밀 대응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-241540" y="4927840"/>
            <a:ext cx="9144000" cy="12939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7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9562" y="4316240"/>
            <a:ext cx="838487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78"/>
            <a:ext cx="9144000" cy="5141343"/>
          </a:xfrm>
          <a:prstGeom prst="roundRect">
            <a:avLst>
              <a:gd name="adj" fmla="val 119"/>
            </a:avLst>
          </a:prstGeom>
          <a:ln/>
          <a:effectLst>
            <a:outerShdw sx="100000" sy="100000" kx="0" ky="0" algn="bl" rotWithShape="0" blurRad="103517" dist="17253" dir="5400000">
              <a:srgbClr val="000000">
                <a:alpha val="15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2026-04-06T21:05:45Z</dcterms:created>
  <dcterms:modified xsi:type="dcterms:W3CDTF">2026-04-06T21:05:45Z</dcterms:modified>
</cp:coreProperties>
</file>