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78988" y="1564720"/>
            <a:ext cx="4546506" cy="74783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58"/>
              </a:lnSpc>
              <a:spcAft>
                <a:spcPts val="669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 멀티에이전트 시스템</a:t>
            </a:r>
            <a:pPr algn="l" indent="0" marL="0">
              <a:buNone/>
            </a:pPr>
            <a:endParaRPr lang="en-US" sz="2200" dirty="0"/>
          </a:p>
          <a:p>
            <a:pPr algn="l" indent="0" marL="0">
              <a:lnSpc>
                <a:spcPts val="2958"/>
              </a:lnSpc>
              <a:spcAft>
                <a:spcPts val="669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구성도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1577" y="2399132"/>
            <a:ext cx="3101822" cy="2294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7"/>
              </a:lnSpc>
              <a:spcAft>
                <a:spcPts val="1874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WTA AI Operations Multi-Agent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9453" y="2866529"/>
            <a:ext cx="2243509" cy="7138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(주)윈텍오토메이션 생산관리팀 (AI운영팀)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874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4월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874"/>
              </a:lnSpc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38996" y="161465"/>
            <a:ext cx="4155591" cy="24644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36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 멀티에이전트 시스템 구성도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959" y="594870"/>
            <a:ext cx="8770082" cy="458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5523" y="713844"/>
            <a:ext cx="518387" cy="22095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67" kern="0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buNone/>
            </a:pPr>
            <a:r>
              <a:rPr lang="en-US" sz="600" b="1" spc="67" kern="0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INTERFACE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154935" y="654357"/>
            <a:ext cx="781829" cy="339926"/>
          </a:xfrm>
          <a:prstGeom prst="roundRect">
            <a:avLst>
              <a:gd name="adj" fmla="val 8406"/>
            </a:avLst>
          </a:prstGeom>
          <a:solidFill>
            <a:srgbClr val="FFFFFF"/>
          </a:solidFill>
          <a:ln w="8498">
            <a:solidFill>
              <a:srgbClr val="FB8C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Telegram Bot</a:t>
            </a:r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부서장 명령/보고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38277" y="654357"/>
            <a:ext cx="790327" cy="339926"/>
          </a:xfrm>
          <a:prstGeom prst="roundRect">
            <a:avLst>
              <a:gd name="adj" fmla="val 8406"/>
            </a:avLst>
          </a:prstGeom>
          <a:solidFill>
            <a:srgbClr val="FFFFFF"/>
          </a:solidFill>
          <a:ln w="8498">
            <a:solidFill>
              <a:srgbClr val="FB8C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Slack Bot</a:t>
            </a:r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16개 채널 라우팅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931113" y="654357"/>
            <a:ext cx="671353" cy="339926"/>
          </a:xfrm>
          <a:prstGeom prst="roundRect">
            <a:avLst>
              <a:gd name="adj" fmla="val 8406"/>
            </a:avLst>
          </a:prstGeom>
          <a:solidFill>
            <a:srgbClr val="FFFFFF"/>
          </a:solidFill>
          <a:ln w="8498">
            <a:solidFill>
              <a:srgbClr val="FB8C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Dashboard</a:t>
            </a:r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Flask + React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708029" y="654357"/>
            <a:ext cx="968788" cy="339926"/>
          </a:xfrm>
          <a:prstGeom prst="roundRect">
            <a:avLst>
              <a:gd name="adj" fmla="val 8406"/>
            </a:avLst>
          </a:prstGeom>
          <a:solidFill>
            <a:srgbClr val="FFFFFF"/>
          </a:solidFill>
          <a:ln w="8498">
            <a:solidFill>
              <a:srgbClr val="FB8C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 Tunnel</a:t>
            </a:r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agent.mes-wta.com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86959" y="1257990"/>
            <a:ext cx="1189740" cy="10197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EXTERNAL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186959" y="1572687"/>
            <a:ext cx="1189740" cy="365420"/>
          </a:xfrm>
          <a:prstGeom prst="roundRect">
            <a:avLst>
              <a:gd name="adj" fmla="val 7274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446" y="1623676"/>
            <a:ext cx="1070766" cy="14446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7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Jira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54371" y="1776643"/>
            <a:ext cx="454783" cy="11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32"/>
                </a:solidFill>
                <a:highlight>
                  <a:srgbClr val="E8F5E9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 트래킹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186959" y="2133963"/>
            <a:ext cx="1189740" cy="365420"/>
          </a:xfrm>
          <a:prstGeom prst="roundRect">
            <a:avLst>
              <a:gd name="adj" fmla="val 7274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446" y="2184952"/>
            <a:ext cx="1070766" cy="14446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7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Confluence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93144" y="2337918"/>
            <a:ext cx="377238" cy="11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32"/>
                </a:solidFill>
                <a:highlight>
                  <a:srgbClr val="E8F5E9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문서/위키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186959" y="2695106"/>
            <a:ext cx="1189740" cy="475896"/>
          </a:xfrm>
          <a:prstGeom prst="roundRect">
            <a:avLst>
              <a:gd name="adj" fmla="val 4289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6446" y="2746095"/>
            <a:ext cx="1070766" cy="14446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7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0099" y="2899061"/>
            <a:ext cx="323328" cy="11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32"/>
                </a:solidFill>
                <a:highlight>
                  <a:srgbClr val="E8F5E9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DB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18387" y="3026533"/>
            <a:ext cx="526885" cy="9348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pgvector RAG</a:t>
            </a:r>
            <a:endParaRPr lang="en-US" sz="500" dirty="0"/>
          </a:p>
        </p:txBody>
      </p:sp>
      <p:sp>
        <p:nvSpPr>
          <p:cNvPr id="21" name="Shape 18"/>
          <p:cNvSpPr/>
          <p:nvPr/>
        </p:nvSpPr>
        <p:spPr>
          <a:xfrm>
            <a:off x="186959" y="3366725"/>
            <a:ext cx="1189740" cy="365420"/>
          </a:xfrm>
          <a:prstGeom prst="roundRect">
            <a:avLst>
              <a:gd name="adj" fmla="val 7274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6446" y="3417713"/>
            <a:ext cx="1070766" cy="14446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7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Server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9705" y="3570680"/>
            <a:ext cx="584247" cy="11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32"/>
                </a:solidFill>
                <a:highlight>
                  <a:srgbClr val="E8F5E9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(읽기전용)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186959" y="3927867"/>
            <a:ext cx="1189740" cy="365420"/>
          </a:xfrm>
          <a:prstGeom prst="roundRect">
            <a:avLst>
              <a:gd name="adj" fmla="val 7274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6446" y="3978856"/>
            <a:ext cx="1070766" cy="14446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7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1880" y="4131823"/>
            <a:ext cx="539765" cy="11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32"/>
                </a:solidFill>
                <a:highlight>
                  <a:srgbClr val="E8F5E9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스토리지</a:t>
            </a:r>
            <a:endParaRPr lang="en-US" sz="6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7688" y="1104758"/>
            <a:ext cx="6288625" cy="5098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546662" y="1155747"/>
            <a:ext cx="6050677" cy="16146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👑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900" b="1" spc="67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546662" y="1325710"/>
            <a:ext cx="6050677" cy="10197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Opus 4.6 | 요청 분류 → 위임 → 검토 → 보고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1546662" y="1453182"/>
            <a:ext cx="6050677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highlight>
                  <a:srgbClr val="FFFF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분류/라우팅</a:t>
            </a:r>
            <a:pPr algn="ctr" indent="0" marL="0">
              <a:spcBef>
                <a:spcPts val="201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highlight>
                  <a:srgbClr val="FFFF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위임</a:t>
            </a:r>
            <a:pPr algn="ctr" indent="0" marL="0">
              <a:spcBef>
                <a:spcPts val="201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highlight>
                  <a:srgbClr val="FFFF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검토/QA</a:t>
            </a:r>
            <a:pPr algn="ctr" indent="0" marL="0">
              <a:spcBef>
                <a:spcPts val="201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highlight>
                  <a:srgbClr val="FFFF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작업큐 관리</a:t>
            </a:r>
            <a:pPr algn="ctr" indent="0" marL="0">
              <a:spcBef>
                <a:spcPts val="201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highlight>
                  <a:srgbClr val="FFFF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 검수</a:t>
            </a:r>
            <a:endParaRPr lang="en-US" sz="500" dirty="0"/>
          </a:p>
        </p:txBody>
      </p:sp>
      <p:sp>
        <p:nvSpPr>
          <p:cNvPr id="31" name="Text 27"/>
          <p:cNvSpPr/>
          <p:nvPr/>
        </p:nvSpPr>
        <p:spPr>
          <a:xfrm>
            <a:off x="1427688" y="1648639"/>
            <a:ext cx="6288625" cy="152967"/>
          </a:xfrm>
          <a:prstGeom prst="roundRect">
            <a:avLst>
              <a:gd name="adj" fmla="val 33210"/>
            </a:avLst>
          </a:prstGeom>
          <a:solidFill>
            <a:srgbClr val="E3F2FD"/>
          </a:solidFill>
          <a:ln w="8498">
            <a:solidFill>
              <a:srgbClr val="90CAF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33" kern="0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↕ MCP agent-channel (JSON-RPC over stdio) — send_message / check_status ↕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1427688" y="1836661"/>
            <a:ext cx="1546662" cy="2608929"/>
          </a:xfrm>
          <a:prstGeom prst="roundRect">
            <a:avLst>
              <a:gd name="adj" fmla="val 1949"/>
            </a:avLst>
          </a:prstGeom>
          <a:solidFill>
            <a:srgbClr val="FFF8E1"/>
          </a:solidFill>
          <a:ln w="8498">
            <a:solidFill>
              <a:srgbClr val="FFE08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70178" y="1878089"/>
            <a:ext cx="1461680" cy="135970"/>
          </a:xfrm>
          <a:prstGeom prst="roundRect">
            <a:avLst>
              <a:gd name="adj" fmla="val 31523"/>
            </a:avLst>
          </a:prstGeom>
          <a:solidFill>
            <a:srgbClr val="FFC107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F57F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(OPERATIONS)</a:t>
            </a:r>
            <a:endParaRPr lang="en-US" sz="600" dirty="0"/>
          </a:p>
        </p:txBody>
      </p:sp>
      <p:sp>
        <p:nvSpPr>
          <p:cNvPr id="34" name="Shape 30"/>
          <p:cNvSpPr/>
          <p:nvPr/>
        </p:nvSpPr>
        <p:spPr>
          <a:xfrm>
            <a:off x="1470178" y="2048052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511806" y="2107539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1654349" y="2073546"/>
            <a:ext cx="1147249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모니터링, 헬스체크, 로그 관리</a:t>
            </a:r>
            <a:endParaRPr lang="en-US" sz="600" dirty="0"/>
          </a:p>
        </p:txBody>
      </p:sp>
      <p:sp>
        <p:nvSpPr>
          <p:cNvPr id="37" name="Shape 33"/>
          <p:cNvSpPr/>
          <p:nvPr/>
        </p:nvSpPr>
        <p:spPr>
          <a:xfrm>
            <a:off x="1470178" y="2311494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514130" y="2370981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1669486" y="2336989"/>
            <a:ext cx="985784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일정/D-Day 관리, 마일스톤 추적</a:t>
            </a:r>
            <a:endParaRPr lang="en-US" sz="600" dirty="0"/>
          </a:p>
        </p:txBody>
      </p:sp>
      <p:sp>
        <p:nvSpPr>
          <p:cNvPr id="40" name="Shape 36"/>
          <p:cNvSpPr/>
          <p:nvPr/>
        </p:nvSpPr>
        <p:spPr>
          <a:xfrm>
            <a:off x="1470178" y="2574937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513134" y="2634424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1675063" y="2600431"/>
            <a:ext cx="773331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slack-bot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16채널 라우팅, 멘션 감지</a:t>
            </a:r>
            <a:endParaRPr lang="en-US" sz="600" dirty="0"/>
          </a:p>
        </p:txBody>
      </p:sp>
      <p:sp>
        <p:nvSpPr>
          <p:cNvPr id="43" name="Shape 39"/>
          <p:cNvSpPr/>
          <p:nvPr/>
        </p:nvSpPr>
        <p:spPr>
          <a:xfrm>
            <a:off x="1470178" y="2838379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1513134" y="2897866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1676789" y="2863874"/>
            <a:ext cx="798825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작성, 번역, RAG 검색</a:t>
            </a:r>
            <a:endParaRPr lang="en-US" sz="600" dirty="0"/>
          </a:p>
        </p:txBody>
      </p:sp>
      <p:sp>
        <p:nvSpPr>
          <p:cNvPr id="46" name="Shape 42"/>
          <p:cNvSpPr/>
          <p:nvPr/>
        </p:nvSpPr>
        <p:spPr>
          <a:xfrm>
            <a:off x="3008342" y="1836661"/>
            <a:ext cx="1546662" cy="2608929"/>
          </a:xfrm>
          <a:prstGeom prst="roundRect">
            <a:avLst>
              <a:gd name="adj" fmla="val 1949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050833" y="1878089"/>
            <a:ext cx="1461680" cy="135970"/>
          </a:xfrm>
          <a:prstGeom prst="roundRect">
            <a:avLst>
              <a:gd name="adj" fmla="val 31523"/>
            </a:avLst>
          </a:prstGeom>
          <a:solidFill>
            <a:srgbClr val="4CAF50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/ 영업</a:t>
            </a:r>
            <a:endParaRPr lang="en-US" sz="600" dirty="0"/>
          </a:p>
        </p:txBody>
      </p:sp>
      <p:sp>
        <p:nvSpPr>
          <p:cNvPr id="48" name="Shape 44"/>
          <p:cNvSpPr/>
          <p:nvPr/>
        </p:nvSpPr>
        <p:spPr>
          <a:xfrm>
            <a:off x="3050833" y="2048052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093323" y="2107539"/>
            <a:ext cx="93480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🛠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220331" y="2073546"/>
            <a:ext cx="960290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CS 응대, 장비 매뉴얼 RAG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3050833" y="2311494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092460" y="2370981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3235003" y="2336989"/>
            <a:ext cx="875309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sales-agent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조사, 특허, 메뉴 추천</a:t>
            </a:r>
            <a:endParaRPr lang="en-US" sz="600" dirty="0"/>
          </a:p>
        </p:txBody>
      </p:sp>
      <p:sp>
        <p:nvSpPr>
          <p:cNvPr id="54" name="Shape 50"/>
          <p:cNvSpPr/>
          <p:nvPr/>
        </p:nvSpPr>
        <p:spPr>
          <a:xfrm>
            <a:off x="3050833" y="2574937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091464" y="2634424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3244564" y="2600431"/>
            <a:ext cx="620364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issue-manager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제품개선 Jira 트래킹</a:t>
            </a:r>
            <a:endParaRPr lang="en-US" sz="600" dirty="0"/>
          </a:p>
        </p:txBody>
      </p:sp>
      <p:sp>
        <p:nvSpPr>
          <p:cNvPr id="57" name="Shape 53"/>
          <p:cNvSpPr/>
          <p:nvPr/>
        </p:nvSpPr>
        <p:spPr>
          <a:xfrm>
            <a:off x="3050833" y="2838379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3093788" y="2897866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🛒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256382" y="2863874"/>
            <a:ext cx="620364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purchase-agent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구매/발주/입고 관리</a:t>
            </a:r>
            <a:endParaRPr lang="en-US" sz="600" dirty="0"/>
          </a:p>
        </p:txBody>
      </p:sp>
      <p:sp>
        <p:nvSpPr>
          <p:cNvPr id="60" name="Shape 56"/>
          <p:cNvSpPr/>
          <p:nvPr/>
        </p:nvSpPr>
        <p:spPr>
          <a:xfrm>
            <a:off x="4588996" y="1836661"/>
            <a:ext cx="1546662" cy="2608929"/>
          </a:xfrm>
          <a:prstGeom prst="roundRect">
            <a:avLst>
              <a:gd name="adj" fmla="val 1949"/>
            </a:avLst>
          </a:prstGeom>
          <a:solidFill>
            <a:srgbClr val="E3F2FD"/>
          </a:solidFill>
          <a:ln w="8498">
            <a:solidFill>
              <a:srgbClr val="90CAF9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631487" y="1878089"/>
            <a:ext cx="1461680" cy="135970"/>
          </a:xfrm>
          <a:prstGeom prst="roundRect">
            <a:avLst>
              <a:gd name="adj" fmla="val 31523"/>
            </a:avLst>
          </a:prstGeom>
          <a:solidFill>
            <a:srgbClr val="2196F3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/ 데이터</a:t>
            </a:r>
            <a:endParaRPr lang="en-US" sz="600" dirty="0"/>
          </a:p>
        </p:txBody>
      </p:sp>
      <p:sp>
        <p:nvSpPr>
          <p:cNvPr id="62" name="Shape 58"/>
          <p:cNvSpPr/>
          <p:nvPr/>
        </p:nvSpPr>
        <p:spPr>
          <a:xfrm>
            <a:off x="4631487" y="2048052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674442" y="2107539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837169" y="2073546"/>
            <a:ext cx="696848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nc-manager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부적합 관리, 품질 분석</a:t>
            </a:r>
            <a:endParaRPr lang="en-US" sz="600" dirty="0"/>
          </a:p>
        </p:txBody>
      </p:sp>
      <p:sp>
        <p:nvSpPr>
          <p:cNvPr id="65" name="Shape 61"/>
          <p:cNvSpPr/>
          <p:nvPr/>
        </p:nvSpPr>
        <p:spPr>
          <a:xfrm>
            <a:off x="4631487" y="2311494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4672119" y="2370981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🔬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4824289" y="2336989"/>
            <a:ext cx="747836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출하검사, Playwright QA</a:t>
            </a:r>
            <a:endParaRPr lang="en-US" sz="600" dirty="0"/>
          </a:p>
        </p:txBody>
      </p:sp>
      <p:sp>
        <p:nvSpPr>
          <p:cNvPr id="68" name="Shape 64"/>
          <p:cNvSpPr/>
          <p:nvPr/>
        </p:nvSpPr>
        <p:spPr>
          <a:xfrm>
            <a:off x="4631487" y="2574937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675438" y="2634424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endParaRPr lang="en-US" sz="700" dirty="0"/>
          </a:p>
        </p:txBody>
      </p:sp>
      <p:sp>
        <p:nvSpPr>
          <p:cNvPr id="70" name="Text 66"/>
          <p:cNvSpPr/>
          <p:nvPr/>
        </p:nvSpPr>
        <p:spPr>
          <a:xfrm>
            <a:off x="4828803" y="2600431"/>
            <a:ext cx="815822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db-manager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DB/ERP 조회, 벡터DB 관리</a:t>
            </a:r>
            <a:endParaRPr lang="en-US" sz="600" dirty="0"/>
          </a:p>
        </p:txBody>
      </p:sp>
      <p:sp>
        <p:nvSpPr>
          <p:cNvPr id="71" name="Shape 67"/>
          <p:cNvSpPr/>
          <p:nvPr/>
        </p:nvSpPr>
        <p:spPr>
          <a:xfrm>
            <a:off x="4631487" y="2838379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4674442" y="2897866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🔎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4836106" y="2863874"/>
            <a:ext cx="1053770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기술조사, 시장분석, 온라인 리서치</a:t>
            </a:r>
            <a:endParaRPr lang="en-US" sz="600" dirty="0"/>
          </a:p>
        </p:txBody>
      </p:sp>
      <p:sp>
        <p:nvSpPr>
          <p:cNvPr id="74" name="Shape 70"/>
          <p:cNvSpPr/>
          <p:nvPr/>
        </p:nvSpPr>
        <p:spPr>
          <a:xfrm>
            <a:off x="6169651" y="1836661"/>
            <a:ext cx="1546662" cy="2608929"/>
          </a:xfrm>
          <a:prstGeom prst="roundRect">
            <a:avLst>
              <a:gd name="adj" fmla="val 1949"/>
            </a:avLst>
          </a:prstGeom>
          <a:solidFill>
            <a:srgbClr val="FCE4EC"/>
          </a:solidFill>
          <a:ln w="8498">
            <a:solidFill>
              <a:srgbClr val="F48FB1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6212141" y="1878089"/>
            <a:ext cx="1461680" cy="135970"/>
          </a:xfrm>
          <a:prstGeom prst="roundRect">
            <a:avLst>
              <a:gd name="adj" fmla="val 31523"/>
            </a:avLst>
          </a:prstGeom>
          <a:solidFill>
            <a:srgbClr val="F44336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/ 기술</a:t>
            </a:r>
            <a:endParaRPr lang="en-US" sz="600" dirty="0"/>
          </a:p>
        </p:txBody>
      </p:sp>
      <p:sp>
        <p:nvSpPr>
          <p:cNvPr id="76" name="Shape 72"/>
          <p:cNvSpPr/>
          <p:nvPr/>
        </p:nvSpPr>
        <p:spPr>
          <a:xfrm>
            <a:off x="6212141" y="2048052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6255097" y="2107539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6415366" y="2073546"/>
            <a:ext cx="756335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프론트/백엔드 개발</a:t>
            </a:r>
            <a:endParaRPr lang="en-US" sz="600" dirty="0"/>
          </a:p>
        </p:txBody>
      </p:sp>
      <p:sp>
        <p:nvSpPr>
          <p:cNvPr id="79" name="Shape 75"/>
          <p:cNvSpPr/>
          <p:nvPr/>
        </p:nvSpPr>
        <p:spPr>
          <a:xfrm>
            <a:off x="6212141" y="2311494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6255097" y="2370981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6416761" y="2336989"/>
            <a:ext cx="747836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crafter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구축, API, 인프라</a:t>
            </a:r>
            <a:endParaRPr lang="en-US" sz="600" dirty="0"/>
          </a:p>
        </p:txBody>
      </p:sp>
      <p:sp>
        <p:nvSpPr>
          <p:cNvPr id="82" name="Shape 78"/>
          <p:cNvSpPr/>
          <p:nvPr/>
        </p:nvSpPr>
        <p:spPr>
          <a:xfrm>
            <a:off x="6212141" y="2574937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6256093" y="2634424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</a:t>
            </a:r>
            <a:endParaRPr lang="en-US" sz="700" dirty="0"/>
          </a:p>
        </p:txBody>
      </p:sp>
      <p:sp>
        <p:nvSpPr>
          <p:cNvPr id="84" name="Text 80"/>
          <p:cNvSpPr/>
          <p:nvPr/>
        </p:nvSpPr>
        <p:spPr>
          <a:xfrm>
            <a:off x="6409657" y="2600431"/>
            <a:ext cx="620364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제어/모션/서보/HMI</a:t>
            </a:r>
            <a:endParaRPr lang="en-US" sz="600" dirty="0"/>
          </a:p>
        </p:txBody>
      </p:sp>
      <p:sp>
        <p:nvSpPr>
          <p:cNvPr id="85" name="Shape 81"/>
          <p:cNvSpPr/>
          <p:nvPr/>
        </p:nvSpPr>
        <p:spPr>
          <a:xfrm>
            <a:off x="6212141" y="2838379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6256093" y="2897866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📐</a:t>
            </a:r>
            <a:endParaRPr lang="en-US" sz="700" dirty="0"/>
          </a:p>
        </p:txBody>
      </p:sp>
      <p:sp>
        <p:nvSpPr>
          <p:cNvPr id="87" name="Text 83"/>
          <p:cNvSpPr/>
          <p:nvPr/>
        </p:nvSpPr>
        <p:spPr>
          <a:xfrm>
            <a:off x="6410653" y="2863874"/>
            <a:ext cx="773331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기구설계/도면/BOM/ECN</a:t>
            </a:r>
            <a:endParaRPr lang="en-US" sz="600" dirty="0"/>
          </a:p>
        </p:txBody>
      </p:sp>
      <p:sp>
        <p:nvSpPr>
          <p:cNvPr id="88" name="Text 84"/>
          <p:cNvSpPr/>
          <p:nvPr/>
        </p:nvSpPr>
        <p:spPr>
          <a:xfrm>
            <a:off x="7767301" y="1243384"/>
            <a:ext cx="1189740" cy="10197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 STACK</a:t>
            </a:r>
            <a:endParaRPr lang="en-US" sz="600" dirty="0"/>
          </a:p>
        </p:txBody>
      </p:sp>
      <p:sp>
        <p:nvSpPr>
          <p:cNvPr id="89" name="Shape 85"/>
          <p:cNvSpPr/>
          <p:nvPr/>
        </p:nvSpPr>
        <p:spPr>
          <a:xfrm>
            <a:off x="7767301" y="1543608"/>
            <a:ext cx="1189740" cy="407911"/>
          </a:xfrm>
          <a:prstGeom prst="roundRect">
            <a:avLst>
              <a:gd name="adj" fmla="val 5838"/>
            </a:avLst>
          </a:prstGeom>
          <a:solidFill>
            <a:srgbClr val="F3E5F5"/>
          </a:solidFill>
          <a:ln w="8498">
            <a:solidFill>
              <a:srgbClr val="CE93D8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7826788" y="1594597"/>
            <a:ext cx="1070766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AI</a:t>
            </a:r>
            <a:endParaRPr lang="en-US" sz="600" dirty="0"/>
          </a:p>
        </p:txBody>
      </p:sp>
      <p:sp>
        <p:nvSpPr>
          <p:cNvPr id="91" name="Text 87"/>
          <p:cNvSpPr/>
          <p:nvPr/>
        </p:nvSpPr>
        <p:spPr>
          <a:xfrm>
            <a:off x="7826788" y="1713571"/>
            <a:ext cx="1070766" cy="18695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Opus 4.6 / Sonnet 4.6</a:t>
            </a:r>
            <a:pPr algn="ctr" indent="0" marL="0">
              <a:buNone/>
            </a:pPr>
            <a:endParaRPr lang="en-US" sz="500" dirty="0"/>
          </a:p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에이전트별 모델 선택</a:t>
            </a:r>
            <a:endParaRPr lang="en-US" sz="500" dirty="0"/>
          </a:p>
        </p:txBody>
      </p:sp>
      <p:sp>
        <p:nvSpPr>
          <p:cNvPr id="92" name="Shape 88"/>
          <p:cNvSpPr/>
          <p:nvPr/>
        </p:nvSpPr>
        <p:spPr>
          <a:xfrm>
            <a:off x="7767301" y="2132635"/>
            <a:ext cx="1189740" cy="407911"/>
          </a:xfrm>
          <a:prstGeom prst="roundRect">
            <a:avLst>
              <a:gd name="adj" fmla="val 5838"/>
            </a:avLst>
          </a:prstGeom>
          <a:solidFill>
            <a:srgbClr val="F3E5F5"/>
          </a:solidFill>
          <a:ln w="8498">
            <a:solidFill>
              <a:srgbClr val="CE93D8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7826788" y="2183624"/>
            <a:ext cx="1070766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Protocol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7826788" y="2302598"/>
            <a:ext cx="1070766" cy="18695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JSON-RPC over stdio</a:t>
            </a:r>
            <a:pPr algn="ctr" indent="0" marL="0">
              <a:buNone/>
            </a:pPr>
            <a:endParaRPr lang="en-US" sz="500" dirty="0"/>
          </a:p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agent-channel 서버</a:t>
            </a:r>
            <a:endParaRPr lang="en-US" sz="500" dirty="0"/>
          </a:p>
        </p:txBody>
      </p:sp>
      <p:sp>
        <p:nvSpPr>
          <p:cNvPr id="95" name="Shape 91"/>
          <p:cNvSpPr/>
          <p:nvPr/>
        </p:nvSpPr>
        <p:spPr>
          <a:xfrm>
            <a:off x="7767301" y="2721795"/>
            <a:ext cx="1189740" cy="407911"/>
          </a:xfrm>
          <a:prstGeom prst="roundRect">
            <a:avLst>
              <a:gd name="adj" fmla="val 5838"/>
            </a:avLst>
          </a:prstGeom>
          <a:solidFill>
            <a:srgbClr val="F3E5F5"/>
          </a:solidFill>
          <a:ln w="8498">
            <a:solidFill>
              <a:srgbClr val="CE93D8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7826788" y="2772784"/>
            <a:ext cx="1070766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pgvector RAG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7826788" y="2891758"/>
            <a:ext cx="1070766" cy="18695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389K+ 벡터 청크</a:t>
            </a:r>
            <a:pPr algn="ctr" indent="0" marL="0">
              <a:buNone/>
            </a:pPr>
            <a:endParaRPr lang="en-US" sz="500" dirty="0"/>
          </a:p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Qwen3-Embedding-8B</a:t>
            </a:r>
            <a:endParaRPr lang="en-US" sz="500" dirty="0"/>
          </a:p>
        </p:txBody>
      </p:sp>
      <p:sp>
        <p:nvSpPr>
          <p:cNvPr id="98" name="Shape 94"/>
          <p:cNvSpPr/>
          <p:nvPr/>
        </p:nvSpPr>
        <p:spPr>
          <a:xfrm>
            <a:off x="7767301" y="3310823"/>
            <a:ext cx="1189740" cy="407911"/>
          </a:xfrm>
          <a:prstGeom prst="roundRect">
            <a:avLst>
              <a:gd name="adj" fmla="val 5838"/>
            </a:avLst>
          </a:prstGeom>
          <a:solidFill>
            <a:srgbClr val="F3E5F5"/>
          </a:solidFill>
          <a:ln w="8498">
            <a:solidFill>
              <a:srgbClr val="CE93D8"/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7826788" y="3361812"/>
            <a:ext cx="1070766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Server</a:t>
            </a:r>
            <a:endParaRPr lang="en-US" sz="600" dirty="0"/>
          </a:p>
        </p:txBody>
      </p:sp>
      <p:sp>
        <p:nvSpPr>
          <p:cNvPr id="100" name="Text 96"/>
          <p:cNvSpPr/>
          <p:nvPr/>
        </p:nvSpPr>
        <p:spPr>
          <a:xfrm>
            <a:off x="7826788" y="3480786"/>
            <a:ext cx="1070766" cy="18695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ConEmu 세션 관리</a:t>
            </a:r>
            <a:pPr algn="ctr" indent="0" marL="0">
              <a:buNone/>
            </a:pPr>
            <a:endParaRPr lang="en-US" sz="500" dirty="0"/>
          </a:p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 CLI 프로세스</a:t>
            </a:r>
            <a:endParaRPr lang="en-US" sz="500" dirty="0"/>
          </a:p>
        </p:txBody>
      </p:sp>
      <p:sp>
        <p:nvSpPr>
          <p:cNvPr id="101" name="Shape 97"/>
          <p:cNvSpPr/>
          <p:nvPr/>
        </p:nvSpPr>
        <p:spPr>
          <a:xfrm>
            <a:off x="7767301" y="3899983"/>
            <a:ext cx="1189740" cy="407911"/>
          </a:xfrm>
          <a:prstGeom prst="roundRect">
            <a:avLst>
              <a:gd name="adj" fmla="val 5838"/>
            </a:avLst>
          </a:prstGeom>
          <a:solidFill>
            <a:srgbClr val="F3E5F5"/>
          </a:solidFill>
          <a:ln w="8498">
            <a:solidFill>
              <a:srgbClr val="CE93D8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7826788" y="3950972"/>
            <a:ext cx="1070766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</a:t>
            </a:r>
            <a:endParaRPr lang="en-US" sz="600" dirty="0"/>
          </a:p>
        </p:txBody>
      </p:sp>
      <p:sp>
        <p:nvSpPr>
          <p:cNvPr id="103" name="Text 99"/>
          <p:cNvSpPr/>
          <p:nvPr/>
        </p:nvSpPr>
        <p:spPr>
          <a:xfrm>
            <a:off x="7826788" y="4069946"/>
            <a:ext cx="1070766" cy="18695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Tunnel + DNS</a:t>
            </a:r>
            <a:pPr algn="ctr" indent="0" marL="0">
              <a:buNone/>
            </a:pPr>
            <a:endParaRPr lang="en-US" sz="500" dirty="0"/>
          </a:p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접근 게이트웨이</a:t>
            </a:r>
            <a:endParaRPr lang="en-US" sz="500" dirty="0"/>
          </a:p>
        </p:txBody>
      </p:sp>
      <p:sp>
        <p:nvSpPr>
          <p:cNvPr id="104" name="Shape 100"/>
          <p:cNvSpPr/>
          <p:nvPr/>
        </p:nvSpPr>
        <p:spPr>
          <a:xfrm>
            <a:off x="186959" y="4497641"/>
            <a:ext cx="8770082" cy="271941"/>
          </a:xfrm>
          <a:prstGeom prst="roundRect">
            <a:avLst>
              <a:gd name="adj" fmla="val 15762"/>
            </a:avLst>
          </a:prstGeom>
          <a:solidFill>
            <a:srgbClr val="F8F8F8"/>
          </a:solidFill>
          <a:ln w="8498">
            <a:solidFill>
              <a:srgbClr val="E0E0E0"/>
            </a:solidFill>
            <a:prstDash val="solid"/>
          </a:ln>
        </p:spPr>
      </p:sp>
      <p:sp>
        <p:nvSpPr>
          <p:cNvPr id="105" name="Text 101"/>
          <p:cNvSpPr/>
          <p:nvPr/>
        </p:nvSpPr>
        <p:spPr>
          <a:xfrm>
            <a:off x="1421447" y="4582623"/>
            <a:ext cx="212454" cy="10197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</a:t>
            </a:r>
            <a:endParaRPr lang="en-US" sz="600" dirty="0"/>
          </a:p>
        </p:txBody>
      </p:sp>
      <p:sp>
        <p:nvSpPr>
          <p:cNvPr id="106" name="Text 102"/>
          <p:cNvSpPr/>
          <p:nvPr/>
        </p:nvSpPr>
        <p:spPr>
          <a:xfrm>
            <a:off x="1684889" y="4548630"/>
            <a:ext cx="586372" cy="169963"/>
          </a:xfrm>
          <a:prstGeom prst="roundRect">
            <a:avLst>
              <a:gd name="adj" fmla="val 26900"/>
            </a:avLst>
          </a:prstGeom>
          <a:solidFill>
            <a:srgbClr val="FFF3E0"/>
          </a:solidFill>
          <a:ln w="8498">
            <a:solidFill>
              <a:srgbClr val="FFB7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요청</a:t>
            </a:r>
            <a:endParaRPr lang="en-US" sz="600" dirty="0"/>
          </a:p>
        </p:txBody>
      </p:sp>
      <p:sp>
        <p:nvSpPr>
          <p:cNvPr id="107" name="Text 103"/>
          <p:cNvSpPr/>
          <p:nvPr/>
        </p:nvSpPr>
        <p:spPr>
          <a:xfrm>
            <a:off x="2287593" y="4557128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08" name="Text 104"/>
          <p:cNvSpPr/>
          <p:nvPr/>
        </p:nvSpPr>
        <p:spPr>
          <a:xfrm>
            <a:off x="2424294" y="4548630"/>
            <a:ext cx="790327" cy="169963"/>
          </a:xfrm>
          <a:prstGeom prst="roundRect">
            <a:avLst>
              <a:gd name="adj" fmla="val 26900"/>
            </a:avLst>
          </a:prstGeom>
          <a:solidFill>
            <a:srgbClr val="FFF3E0"/>
          </a:solidFill>
          <a:ln w="8498">
            <a:solidFill>
              <a:srgbClr val="FFB7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Telegram / Slack</a:t>
            </a:r>
            <a:endParaRPr lang="en-US" sz="600" dirty="0"/>
          </a:p>
        </p:txBody>
      </p:sp>
      <p:sp>
        <p:nvSpPr>
          <p:cNvPr id="109" name="Text 105"/>
          <p:cNvSpPr/>
          <p:nvPr/>
        </p:nvSpPr>
        <p:spPr>
          <a:xfrm>
            <a:off x="3232348" y="4557128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10" name="Text 106"/>
          <p:cNvSpPr/>
          <p:nvPr/>
        </p:nvSpPr>
        <p:spPr>
          <a:xfrm>
            <a:off x="3366459" y="4548630"/>
            <a:ext cx="730840" cy="169963"/>
          </a:xfrm>
          <a:prstGeom prst="roundRect">
            <a:avLst>
              <a:gd name="adj" fmla="val 26900"/>
            </a:avLst>
          </a:prstGeom>
          <a:solidFill>
            <a:srgbClr val="FFEBEE"/>
          </a:solidFill>
          <a:ln w="8498">
            <a:solidFill>
              <a:srgbClr val="EF9A9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 수신/분류</a:t>
            </a:r>
            <a:endParaRPr lang="en-US" sz="600" dirty="0"/>
          </a:p>
        </p:txBody>
      </p:sp>
      <p:sp>
        <p:nvSpPr>
          <p:cNvPr id="111" name="Text 107"/>
          <p:cNvSpPr/>
          <p:nvPr/>
        </p:nvSpPr>
        <p:spPr>
          <a:xfrm>
            <a:off x="4112436" y="4557128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4247676" y="4548630"/>
            <a:ext cx="892305" cy="169963"/>
          </a:xfrm>
          <a:prstGeom prst="roundRect">
            <a:avLst>
              <a:gd name="adj" fmla="val 26900"/>
            </a:avLst>
          </a:prstGeom>
          <a:solidFill>
            <a:srgbClr val="FFEBEE"/>
          </a:solidFill>
          <a:ln w="8498">
            <a:solidFill>
              <a:srgbClr val="EF9A9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send_message 위임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5156247" y="4557128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14" name="Text 110"/>
          <p:cNvSpPr/>
          <p:nvPr/>
        </p:nvSpPr>
        <p:spPr>
          <a:xfrm>
            <a:off x="5290890" y="4548630"/>
            <a:ext cx="858312" cy="169963"/>
          </a:xfrm>
          <a:prstGeom prst="roundRect">
            <a:avLst>
              <a:gd name="adj" fmla="val 26900"/>
            </a:avLst>
          </a:prstGeom>
          <a:solidFill>
            <a:srgbClr val="E3F2FD"/>
          </a:solidFill>
          <a:ln w="8498">
            <a:solidFill>
              <a:srgbClr val="90CAF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작업 수행</a:t>
            </a:r>
            <a:endParaRPr lang="en-US" sz="600" dirty="0"/>
          </a:p>
        </p:txBody>
      </p:sp>
      <p:sp>
        <p:nvSpPr>
          <p:cNvPr id="115" name="Text 111"/>
          <p:cNvSpPr/>
          <p:nvPr/>
        </p:nvSpPr>
        <p:spPr>
          <a:xfrm>
            <a:off x="6164870" y="4557128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16" name="Text 112"/>
          <p:cNvSpPr/>
          <p:nvPr/>
        </p:nvSpPr>
        <p:spPr>
          <a:xfrm>
            <a:off x="6298782" y="4548630"/>
            <a:ext cx="688349" cy="169963"/>
          </a:xfrm>
          <a:prstGeom prst="roundRect">
            <a:avLst>
              <a:gd name="adj" fmla="val 26900"/>
            </a:avLst>
          </a:prstGeom>
          <a:solidFill>
            <a:srgbClr val="FFEBEE"/>
          </a:solidFill>
          <a:ln w="8498">
            <a:solidFill>
              <a:srgbClr val="EF9A9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 검토/QA</a:t>
            </a:r>
            <a:endParaRPr lang="en-US" sz="600" dirty="0"/>
          </a:p>
        </p:txBody>
      </p:sp>
      <p:sp>
        <p:nvSpPr>
          <p:cNvPr id="117" name="Text 113"/>
          <p:cNvSpPr/>
          <p:nvPr/>
        </p:nvSpPr>
        <p:spPr>
          <a:xfrm>
            <a:off x="7002070" y="4557128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7137376" y="4548630"/>
            <a:ext cx="586372" cy="169963"/>
          </a:xfrm>
          <a:prstGeom prst="roundRect">
            <a:avLst>
              <a:gd name="adj" fmla="val 26900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회신</a:t>
            </a:r>
            <a:endParaRPr lang="en-US" sz="600" dirty="0"/>
          </a:p>
        </p:txBody>
      </p:sp>
      <p:sp>
        <p:nvSpPr>
          <p:cNvPr id="119" name="Shape 115"/>
          <p:cNvSpPr/>
          <p:nvPr/>
        </p:nvSpPr>
        <p:spPr>
          <a:xfrm>
            <a:off x="220952" y="4833318"/>
            <a:ext cx="67985" cy="67985"/>
          </a:xfrm>
          <a:prstGeom prst="roundRect">
            <a:avLst>
              <a:gd name="adj" fmla="val 84063"/>
            </a:avLst>
          </a:prstGeom>
          <a:solidFill>
            <a:srgbClr val="FFCC80"/>
          </a:solidFill>
          <a:ln/>
        </p:spPr>
      </p:sp>
      <p:sp>
        <p:nvSpPr>
          <p:cNvPr id="120" name="Text 116"/>
          <p:cNvSpPr/>
          <p:nvPr/>
        </p:nvSpPr>
        <p:spPr>
          <a:xfrm>
            <a:off x="314431" y="4820571"/>
            <a:ext cx="386665" cy="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접점</a:t>
            </a:r>
            <a:endParaRPr lang="en-US" sz="500" dirty="0"/>
          </a:p>
        </p:txBody>
      </p:sp>
      <p:sp>
        <p:nvSpPr>
          <p:cNvPr id="121" name="Shape 117"/>
          <p:cNvSpPr/>
          <p:nvPr/>
        </p:nvSpPr>
        <p:spPr>
          <a:xfrm>
            <a:off x="769082" y="4833318"/>
            <a:ext cx="67985" cy="67985"/>
          </a:xfrm>
          <a:prstGeom prst="roundRect">
            <a:avLst>
              <a:gd name="adj" fmla="val 84063"/>
            </a:avLst>
          </a:prstGeom>
          <a:solidFill>
            <a:srgbClr val="CC0000"/>
          </a:solidFill>
          <a:ln/>
        </p:spPr>
      </p:sp>
      <p:sp>
        <p:nvSpPr>
          <p:cNvPr id="122" name="Text 118"/>
          <p:cNvSpPr/>
          <p:nvPr/>
        </p:nvSpPr>
        <p:spPr>
          <a:xfrm>
            <a:off x="862561" y="4820571"/>
            <a:ext cx="505639" cy="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오케스트레이터</a:t>
            </a:r>
            <a:endParaRPr lang="en-US" sz="500" dirty="0"/>
          </a:p>
        </p:txBody>
      </p:sp>
      <p:sp>
        <p:nvSpPr>
          <p:cNvPr id="123" name="Shape 119"/>
          <p:cNvSpPr/>
          <p:nvPr/>
        </p:nvSpPr>
        <p:spPr>
          <a:xfrm>
            <a:off x="1436186" y="4833318"/>
            <a:ext cx="67985" cy="67985"/>
          </a:xfrm>
          <a:prstGeom prst="roundRect">
            <a:avLst>
              <a:gd name="adj" fmla="val 84063"/>
            </a:avLst>
          </a:prstGeom>
          <a:solidFill>
            <a:srgbClr val="90CAF9"/>
          </a:solidFill>
          <a:ln/>
        </p:spPr>
      </p:sp>
      <p:sp>
        <p:nvSpPr>
          <p:cNvPr id="124" name="Text 120"/>
          <p:cNvSpPr/>
          <p:nvPr/>
        </p:nvSpPr>
        <p:spPr>
          <a:xfrm>
            <a:off x="1529665" y="4820571"/>
            <a:ext cx="323195" cy="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통신</a:t>
            </a:r>
            <a:endParaRPr lang="en-US" sz="500" dirty="0"/>
          </a:p>
        </p:txBody>
      </p:sp>
      <p:sp>
        <p:nvSpPr>
          <p:cNvPr id="125" name="Shape 121"/>
          <p:cNvSpPr/>
          <p:nvPr/>
        </p:nvSpPr>
        <p:spPr>
          <a:xfrm>
            <a:off x="1920845" y="4833318"/>
            <a:ext cx="67985" cy="67985"/>
          </a:xfrm>
          <a:prstGeom prst="roundRect">
            <a:avLst>
              <a:gd name="adj" fmla="val 84063"/>
            </a:avLst>
          </a:prstGeom>
          <a:solidFill>
            <a:srgbClr val="A5D6A7"/>
          </a:solidFill>
          <a:ln/>
        </p:spPr>
      </p:sp>
      <p:sp>
        <p:nvSpPr>
          <p:cNvPr id="126" name="Text 122"/>
          <p:cNvSpPr/>
          <p:nvPr/>
        </p:nvSpPr>
        <p:spPr>
          <a:xfrm>
            <a:off x="2014325" y="4820571"/>
            <a:ext cx="386665" cy="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시스템</a:t>
            </a:r>
            <a:endParaRPr lang="en-US" sz="500" dirty="0"/>
          </a:p>
        </p:txBody>
      </p:sp>
      <p:sp>
        <p:nvSpPr>
          <p:cNvPr id="127" name="Shape 123"/>
          <p:cNvSpPr/>
          <p:nvPr/>
        </p:nvSpPr>
        <p:spPr>
          <a:xfrm>
            <a:off x="2468976" y="4833318"/>
            <a:ext cx="67985" cy="67985"/>
          </a:xfrm>
          <a:prstGeom prst="roundRect">
            <a:avLst>
              <a:gd name="adj" fmla="val 84063"/>
            </a:avLst>
          </a:prstGeom>
          <a:solidFill>
            <a:srgbClr val="CE93D8"/>
          </a:solidFill>
          <a:ln/>
        </p:spPr>
      </p:sp>
      <p:sp>
        <p:nvSpPr>
          <p:cNvPr id="128" name="Text 124"/>
          <p:cNvSpPr/>
          <p:nvPr/>
        </p:nvSpPr>
        <p:spPr>
          <a:xfrm>
            <a:off x="2562455" y="4820571"/>
            <a:ext cx="314431" cy="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500" dirty="0"/>
          </a:p>
        </p:txBody>
      </p:sp>
      <p:sp>
        <p:nvSpPr>
          <p:cNvPr id="129" name="Text 125"/>
          <p:cNvSpPr/>
          <p:nvPr/>
        </p:nvSpPr>
        <p:spPr>
          <a:xfrm>
            <a:off x="3012259" y="4820571"/>
            <a:ext cx="2906364" cy="9348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에이전트 = 독립 Claude Code CLI 세션 (자체 CLAUDE.md, MCP 도구, 워크스페이스)</a:t>
            </a:r>
            <a:endParaRPr lang="en-US" sz="500" dirty="0"/>
          </a:p>
        </p:txBody>
      </p:sp>
      <p:sp>
        <p:nvSpPr>
          <p:cNvPr id="130" name="Text 126"/>
          <p:cNvSpPr/>
          <p:nvPr/>
        </p:nvSpPr>
        <p:spPr>
          <a:xfrm>
            <a:off x="-169963" y="4931046"/>
            <a:ext cx="9144000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2026-04-06T21:06:06Z</dcterms:created>
  <dcterms:modified xsi:type="dcterms:W3CDTF">2026-04-06T21:06:06Z</dcterms:modified>
</cp:coreProperties>
</file>