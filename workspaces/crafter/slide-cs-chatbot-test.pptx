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맑은 고딕"/>
              </a:defRPr>
            </a:pPr>
            <a:r>
              <a:t>사내 CS AI 챗봇 시스템구축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데이터 학습 현황 및 구축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(주)윈텍오토메이션 생산관리팀 (AI운영팀)</a:t>
            </a:r>
          </a:p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2026년 4월 2일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시스템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722376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목적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CS 기술지원 응답 자동화 — 축적된 장비 노하우 데이터를 AI가 즉시 검색·응답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슬랙 기반 실시간 소통 — 직원이 평소 쓰는 채널에서 바로 질문, AI가 바로 답변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7223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CC0000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225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맑은 고딕"/>
              </a:defRPr>
            </a:pPr>
            <a:r>
              <a:t>💬 슬랙 (Socket Mode)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225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맑은 고딕"/>
              </a:defRPr>
            </a:pPr>
            <a:r>
              <a:t>🤖 slack-bot (Haiku)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225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맑은 고딕"/>
              </a:defRPr>
            </a:pPr>
            <a:r>
              <a:t>🛠️ cs-agent (Opus)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3225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맑은 고딕"/>
              </a:defRPr>
            </a:pPr>
            <a:r>
              <a:t>📊 RAG 벡터검색 (pgvector)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맑은 고딕"/>
              </a:defRPr>
            </a:pPr>
            <a:r>
              <a:t>💬 슬랙 자동 응답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797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맑은 고딕"/>
              </a:defRPr>
            </a:pPr>
            <a:r>
              <a:t>🗄️ CS이력 265K 청크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797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맑은 고딕"/>
              </a:defRPr>
            </a:pPr>
            <a:r>
              <a:t>📖 WTA매뉴얼 120K 청크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7797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맑은 고딕"/>
              </a:defRPr>
            </a:pPr>
            <a:r>
              <a:t>📋 기술문서 2K 청크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28416"/>
            <a:ext cx="5212079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통신 방식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P2P HTTP 직접통신 (중앙 서버 불필요)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오프라인 메시지 큐 (자동 재전달)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에이전트 간 MCP 채널 연동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28416"/>
            <a:ext cx="54864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328416"/>
            <a:ext cx="5212079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멀티모델 파이프라인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•Haiku— 접수·라우팅 (빠른 분류)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•Opus— 고급 기술응답 (이미지 분석)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•Sonnet— 일반 업무처리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328416"/>
            <a:ext cx="54864" cy="1280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데이터 학습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C0000"/>
                </a:solidFill>
                <a:latin typeface="맑은 고딕"/>
              </a:defRPr>
            </a:pPr>
            <a:r>
              <a:t>9.3GB+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벡터 DB 총 용량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맑은 고딕"/>
              </a:defRPr>
            </a:pPr>
            <a:r>
              <a:t>391,000+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7373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총 벡터 청크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1887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맑은 고딕"/>
              </a:defRPr>
            </a:pPr>
            <a:r>
              <a:t>99.7%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7373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임베딩 완료율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743200"/>
          <a:ext cx="10698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데이터셋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원본 건수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청크 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용량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부품매뉴얼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1,164건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265,635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6.0GB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WTA 기술문서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656건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120,492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3.0GB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CS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3,318건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2,095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138MB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005072"/>
            <a:ext cx="10698480" cy="722376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임베딩 모델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•Qwen3-Embedding-8B(2000차원) — 한국어·영어·중국어 고성능 임베딩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PostgreSQL pgvector 기반 코사인 유사도 Top-K 검색 — 벡터 인덱스 최적화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05072"/>
            <a:ext cx="54864" cy="7223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슬랙 채널별 AI 자동 라우팅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444444"/>
                </a:solidFill>
                <a:latin typeface="맑은 고딕"/>
              </a:rPr>
              <a:t>각 슬랙 채널에 전담 AI 에이전트를 배치하여, 직원 대화가 자동으로 업무 데이터로 전환됩니다.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슬랙 채널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AI 에이전트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🛠️ cs-agent (Opus)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CS 기술지원 — RAG 검색 + 이미지 분석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#부적합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🔍 nc-manager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LLM 자동판단 → MES 부적합 등록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💰 sales-agent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수주·견적·매출 조회 및 분석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💻 dev-agent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MES 버그 리포트·기능 요청 처리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📝 docs-agent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문서 작성·번역·매뉴얼 검색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#제어-*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⚡ control-agent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개인별 제어설계 기술지원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📋 admin-agent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인프라 모니터링·계정 관리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941064"/>
            <a:ext cx="10698480" cy="923544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핵심 비전: 직원 대화 → AI 자동 수집 → 정형 데이터 → MES DB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직원이 슬랙에서 자연스럽게 대화하면, AI가 자동으로 구조화된 데이터를 생성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부적합 보고서, CS 이력, 장비 이슈 등이 수동 입력 없이 MES에 축적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•현실 직원 → AI 데이터 채널 확보(전사 핵심 과제)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41064"/>
            <a:ext cx="54864" cy="92354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구축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C0000"/>
                </a:solidFill>
                <a:latin typeface="맑은 고딕"/>
              </a:defRPr>
            </a:pPr>
            <a:r>
              <a:t>154건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CS 챗봇 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맑은 고딕"/>
              </a:defRPr>
            </a:pPr>
            <a:r>
              <a:t>614건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7373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처리 메시지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1887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7373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긍정 피드백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521208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Before (기존 방식)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CS 응답: 수 시간 ~ 1일 소요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매뉴얼 검색: 수십 개 PDF 수동 탐색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부적합 등록: 수동 양식 작성 (5~10분)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기술 노하우: 특정 담당자 의존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야간/주말: 응답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54864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21208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After (AI 챗봇)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CS 응답:수 분 이내자동 응답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RAG 검색:39만 청크즉시 탐색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부적합: 슬랙 대화에서자동 파싱·등록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노하우: AI에 축적, 누구나 접근 가능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24/7: 야간·주말 무인 응답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54864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구축 성과 — 실사례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29000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미쓰비시 로봇 배터리 교체 문의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0" y="1188720"/>
            <a:ext cx="3429000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PVD 장비 에러 빈도 TOP 10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54864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188720"/>
            <a:ext cx="3429000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Z축 청소 모듈 충돌 보경 문의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188720"/>
            <a:ext cx="54864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CS 응답 품질 개선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444444"/>
                </a:solidFill>
                <a:latin typeface="맑은 고딕"/>
              </a:rPr>
              <a:t>엔지니어 피드백을 통해</a:t>
            </a:r>
            <a:r>
              <a:rPr sz="1400" b="1">
                <a:solidFill>
                  <a:srgbClr val="CC0000"/>
                </a:solidFill>
                <a:latin typeface="맑은 고딕"/>
              </a:rPr>
              <a:t>응답할수록 정확해지는 자기학습 구조</a:t>
            </a:r>
            <a:r>
              <a:rPr sz="1400" b="0">
                <a:solidFill>
                  <a:srgbClr val="444444"/>
                </a:solidFill>
                <a:latin typeface="맑은 고딕"/>
              </a:rPr>
              <a:t>를 구현합니다.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맑은 고딕"/>
              </a:defRPr>
            </a:pPr>
            <a:r>
              <a:t>① 질문 접수#cs 채널 고객/직원 질문→② AI 응답벡터DB RAG 기반 생성→③ 엔지니어 검증정확/부정확 피드백→④ 세션 기록JSONL 보정 데이터 축적→⑤ 재임베딩검증된 응답 벡터DB 저장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212079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자기학습 사이클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부정확 응답 → 엔지니어가 보정된 정답 입력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보정 세션을cs-sessions.jsonl에 기록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검증된 세션만 선별 재임베딩 → 벡터DB 갱신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다음 유사 질문 시검증된 답변 우선 검색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920240"/>
            <a:ext cx="5212079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핵심 효과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운영할수록응답 정확도 지속 향상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엔지니어 검증 데이터만 학습 —품질 보장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JSONL 기반 전수 추적 — 언제/누가/무엇을 보정했는지 기록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반복 패턴 자동 추출 →스킬화가능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920240"/>
            <a:ext cx="54864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33333"/>
                </a:solidFill>
                <a:latin typeface="맑은 고딕"/>
              </a:defRPr>
            </a:pPr>
            <a:r>
              <a:t>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212079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멀티모델 파이프라인 고도화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•Haiku: 접수·라우팅 (빠른 분류)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•Opus: 이미지 분석 (장비 사진·도면)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•Sonnet: 일반 기술응답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→ 비용 최적화 + 품질 극대화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1188720"/>
            <a:ext cx="5212079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JSONL 축적 → 자가학습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모든 CS 세션을 JSONL 로그로 축적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반복 패턴 자동 추출 → 스킬 생성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시간이 갈수록 응답 정확도 향상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→ 운영할수록 똑똑해지는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188720"/>
            <a:ext cx="54864" cy="1280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5212079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다국어 CS 대응 강화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7개국 60+ 고객사 기술지원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중국/일본/유럽 고객사 직접 응답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매뉴얼 자동 번역 (한↔영↔중)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→ 해외 CS 대응시간 혁신적 단축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54864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651760"/>
            <a:ext cx="5212079" cy="1280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학습 데이터 완성도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부품매뉴얼:892/892개 (100%)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WTA매뉴얼:656/656파일 (99.7%)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CS이력:3,318건임베딩 완료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→ 핵심 데이터 학습 거의 완료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651760"/>
            <a:ext cx="54864" cy="12801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