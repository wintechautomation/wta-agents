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89844" y="1884333"/>
            <a:ext cx="2622430" cy="3795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2"/>
              </a:lnSpc>
              <a:spcAft>
                <a:spcPts val="679"/>
              </a:spcAft>
              <a:buNone/>
            </a:pPr>
            <a:r>
              <a:rPr lang="en-US" sz="2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WTA 도메인 구성도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8563" y="2350968"/>
            <a:ext cx="2294626" cy="23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4"/>
              </a:lnSpc>
              <a:spcAft>
                <a:spcPts val="1902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서비스 아키텍처 및 접근 체계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9709" y="2827038"/>
            <a:ext cx="2277374" cy="43132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2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(주)윈텍오토메이션 생산관리팀 (AI운영팀)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712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2026-04-06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47146" y="181155"/>
            <a:ext cx="2570672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47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WTA 도메인 구성도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394" y="760203"/>
            <a:ext cx="3053751" cy="29674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3079" y="897147"/>
            <a:ext cx="310551" cy="310551"/>
          </a:xfrm>
          <a:prstGeom prst="roundRect">
            <a:avLst>
              <a:gd name="adj" fmla="val 16358"/>
            </a:avLst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9086" y="910087"/>
            <a:ext cx="879894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00" b="1" dirty="0">
                <a:solidFill>
                  <a:srgbClr val="0D47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mes-wta.com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79086" y="1074797"/>
            <a:ext cx="879894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4" kern="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 시스템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80923" y="3176677"/>
            <a:ext cx="2708694" cy="41406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37474F"/>
                </a:solidFill>
                <a:highlight>
                  <a:srgbClr val="ECEFF1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(Gin) + React 19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37474F"/>
                </a:solidFill>
                <a:highlight>
                  <a:srgbClr val="ECEFF1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7B1FA2"/>
                </a:solidFill>
                <a:highlight>
                  <a:srgbClr val="F3E5F5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서버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1565C0"/>
                </a:solidFill>
                <a:highlight>
                  <a:srgbClr val="E3F2F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직원</a:t>
            </a:r>
            <a:endParaRPr lang="en-US" sz="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9090" y="760203"/>
            <a:ext cx="2596551" cy="29674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70540" y="897147"/>
            <a:ext cx="310551" cy="310551"/>
          </a:xfrm>
          <a:prstGeom prst="roundRect">
            <a:avLst>
              <a:gd name="adj" fmla="val 16358"/>
            </a:avLst>
          </a:prstGeom>
          <a:solidFill>
            <a:srgbClr val="E651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069040" y="910087"/>
            <a:ext cx="1285336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00" b="1" dirty="0">
                <a:solidFill>
                  <a:srgbClr val="BF36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agent.mes-wta.com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069040" y="1074797"/>
            <a:ext cx="1285336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4" kern="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에이전트 시스템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671618" y="3176677"/>
            <a:ext cx="2251494" cy="41406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37474F"/>
                </a:solidFill>
                <a:highlight>
                  <a:srgbClr val="ECEFF1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(Flask)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37474F"/>
                </a:solidFill>
                <a:highlight>
                  <a:srgbClr val="ECEFF1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Code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7B1FA2"/>
                </a:solidFill>
                <a:highlight>
                  <a:srgbClr val="F3E5F5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→ Cloudflare Tunnel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1565C0"/>
                </a:solidFill>
                <a:highlight>
                  <a:srgbClr val="E3F2F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직원 (관리자)</a:t>
            </a:r>
            <a:endParaRPr lang="en-US" sz="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5820" y="760203"/>
            <a:ext cx="2596551" cy="29674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7270" y="897147"/>
            <a:ext cx="310551" cy="310551"/>
          </a:xfrm>
          <a:prstGeom prst="roundRect">
            <a:avLst>
              <a:gd name="adj" fmla="val 16358"/>
            </a:avLst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804287" y="910087"/>
            <a:ext cx="741872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00" b="1" dirty="0">
                <a:solidFill>
                  <a:srgbClr val="1B5E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cs-wta.com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804287" y="1074797"/>
            <a:ext cx="741872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4" kern="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 웹앱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408348" y="3176677"/>
            <a:ext cx="2251494" cy="41406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37474F"/>
                </a:solidFill>
                <a:highlight>
                  <a:srgbClr val="ECEFF1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+ FastAPI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37474F"/>
                </a:solidFill>
                <a:highlight>
                  <a:srgbClr val="ECEFF1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pgvector RAG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7B1FA2"/>
                </a:solidFill>
                <a:highlight>
                  <a:srgbClr val="F3E5F5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1565C0"/>
                </a:solidFill>
                <a:highlight>
                  <a:srgbClr val="E3F2F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직원 (CS 엔지니어)</a:t>
            </a:r>
            <a:endParaRPr lang="en-US" sz="600" dirty="0"/>
          </a:p>
        </p:txBody>
      </p:sp>
      <p:sp>
        <p:nvSpPr>
          <p:cNvPr id="19" name="Text 14"/>
          <p:cNvSpPr/>
          <p:nvPr/>
        </p:nvSpPr>
        <p:spPr>
          <a:xfrm>
            <a:off x="310551" y="3832285"/>
            <a:ext cx="8522898" cy="26741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88888"/>
                </a:solidFill>
                <a:highlight>
                  <a:srgbClr val="F5F5F5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mes-wta.com ← 서브도메인 → agent.mes-wta.com</a:t>
            </a:r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700" b="1" dirty="0">
                <a:solidFill>
                  <a:srgbClr val="888888"/>
                </a:solidFill>
                <a:highlight>
                  <a:srgbClr val="F5F5F5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 DB ←→ CS RAG (pgvector 공유)</a:t>
            </a:r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700" b="1" dirty="0">
                <a:solidFill>
                  <a:srgbClr val="888888"/>
                </a:solidFill>
                <a:highlight>
                  <a:srgbClr val="F5F5F5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→ 슬랙/텔레그램/Jira 연동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310551" y="4272232"/>
            <a:ext cx="1621766" cy="733245"/>
          </a:xfrm>
          <a:prstGeom prst="roundRect">
            <a:avLst>
              <a:gd name="adj" fmla="val 2201"/>
            </a:avLst>
          </a:prstGeom>
          <a:solidFill>
            <a:srgbClr val="FAFAFA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05442" y="4349870"/>
            <a:ext cx="1431985" cy="23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🖥️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05442" y="4600036"/>
            <a:ext cx="14319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서버</a:t>
            </a:r>
            <a:endParaRPr lang="en-US" sz="600" dirty="0"/>
          </a:p>
        </p:txBody>
      </p:sp>
      <p:sp>
        <p:nvSpPr>
          <p:cNvPr id="23" name="Text 18"/>
          <p:cNvSpPr/>
          <p:nvPr/>
        </p:nvSpPr>
        <p:spPr>
          <a:xfrm>
            <a:off x="405442" y="4720806"/>
            <a:ext cx="143198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 + AI 에이전트</a:t>
            </a:r>
            <a:pPr algn="ctr" indent="0" marL="0">
              <a:buNone/>
            </a:pPr>
            <a:endParaRPr lang="en-US" sz="600" dirty="0"/>
          </a:p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 (Supabase)</a:t>
            </a:r>
            <a:endParaRPr lang="en-US" sz="600" dirty="0"/>
          </a:p>
        </p:txBody>
      </p:sp>
      <p:sp>
        <p:nvSpPr>
          <p:cNvPr id="24" name="Shape 19"/>
          <p:cNvSpPr/>
          <p:nvPr/>
        </p:nvSpPr>
        <p:spPr>
          <a:xfrm>
            <a:off x="2035834" y="4272232"/>
            <a:ext cx="1621766" cy="733245"/>
          </a:xfrm>
          <a:prstGeom prst="roundRect">
            <a:avLst>
              <a:gd name="adj" fmla="val 2201"/>
            </a:avLst>
          </a:prstGeom>
          <a:solidFill>
            <a:srgbClr val="FAFAFA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130725" y="4349870"/>
            <a:ext cx="1431985" cy="23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☁️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2130725" y="4600036"/>
            <a:ext cx="14319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Cloudflare Tunnel</a:t>
            </a:r>
            <a:endParaRPr lang="en-US" sz="600" dirty="0"/>
          </a:p>
        </p:txBody>
      </p:sp>
      <p:sp>
        <p:nvSpPr>
          <p:cNvPr id="27" name="Text 22"/>
          <p:cNvSpPr/>
          <p:nvPr/>
        </p:nvSpPr>
        <p:spPr>
          <a:xfrm>
            <a:off x="2130725" y="4720806"/>
            <a:ext cx="143198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agent.mes-wta.com</a:t>
            </a:r>
            <a:pPr algn="ctr" indent="0" marL="0">
              <a:buNone/>
            </a:pPr>
            <a:endParaRPr lang="en-US" sz="600" dirty="0"/>
          </a:p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접근 (리포트/파일)</a:t>
            </a:r>
            <a:endParaRPr lang="en-US" sz="600" dirty="0"/>
          </a:p>
        </p:txBody>
      </p:sp>
      <p:sp>
        <p:nvSpPr>
          <p:cNvPr id="28" name="Shape 23"/>
          <p:cNvSpPr/>
          <p:nvPr/>
        </p:nvSpPr>
        <p:spPr>
          <a:xfrm>
            <a:off x="3761117" y="4272232"/>
            <a:ext cx="1621766" cy="733245"/>
          </a:xfrm>
          <a:prstGeom prst="roundRect">
            <a:avLst>
              <a:gd name="adj" fmla="val 2201"/>
            </a:avLst>
          </a:prstGeom>
          <a:solidFill>
            <a:srgbClr val="FAFAFA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856008" y="4349870"/>
            <a:ext cx="1431985" cy="23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🌐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3856008" y="4600036"/>
            <a:ext cx="14319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600" dirty="0"/>
          </a:p>
        </p:txBody>
      </p:sp>
      <p:sp>
        <p:nvSpPr>
          <p:cNvPr id="31" name="Text 26"/>
          <p:cNvSpPr/>
          <p:nvPr/>
        </p:nvSpPr>
        <p:spPr>
          <a:xfrm>
            <a:off x="3856008" y="4720806"/>
            <a:ext cx="143198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cs-wta.com</a:t>
            </a:r>
            <a:pPr algn="ctr" indent="0" marL="0">
              <a:buNone/>
            </a:pPr>
            <a:endParaRPr lang="en-US" sz="600" dirty="0"/>
          </a:p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웹앱 호스팅</a:t>
            </a:r>
            <a:endParaRPr lang="en-US" sz="600" dirty="0"/>
          </a:p>
        </p:txBody>
      </p:sp>
      <p:sp>
        <p:nvSpPr>
          <p:cNvPr id="32" name="Shape 27"/>
          <p:cNvSpPr/>
          <p:nvPr/>
        </p:nvSpPr>
        <p:spPr>
          <a:xfrm>
            <a:off x="5486400" y="4272232"/>
            <a:ext cx="1621766" cy="733245"/>
          </a:xfrm>
          <a:prstGeom prst="roundRect">
            <a:avLst>
              <a:gd name="adj" fmla="val 2201"/>
            </a:avLst>
          </a:prstGeom>
          <a:solidFill>
            <a:srgbClr val="FAFAFA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581291" y="4349870"/>
            <a:ext cx="1431985" cy="23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5581291" y="4600036"/>
            <a:ext cx="14319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연동</a:t>
            </a:r>
            <a:endParaRPr lang="en-US" sz="600" dirty="0"/>
          </a:p>
        </p:txBody>
      </p:sp>
      <p:sp>
        <p:nvSpPr>
          <p:cNvPr id="35" name="Text 30"/>
          <p:cNvSpPr/>
          <p:nvPr/>
        </p:nvSpPr>
        <p:spPr>
          <a:xfrm>
            <a:off x="5581291" y="4720806"/>
            <a:ext cx="143198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Code 16에이전트</a:t>
            </a:r>
            <a:pPr algn="ctr" indent="0" marL="0">
              <a:buNone/>
            </a:pPr>
            <a:endParaRPr lang="en-US" sz="600" dirty="0"/>
          </a:p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슬랙·텔레그램·Jira</a:t>
            </a:r>
            <a:endParaRPr lang="en-US" sz="600" dirty="0"/>
          </a:p>
        </p:txBody>
      </p:sp>
      <p:sp>
        <p:nvSpPr>
          <p:cNvPr id="36" name="Shape 31"/>
          <p:cNvSpPr/>
          <p:nvPr/>
        </p:nvSpPr>
        <p:spPr>
          <a:xfrm>
            <a:off x="7211683" y="4272232"/>
            <a:ext cx="1621766" cy="733245"/>
          </a:xfrm>
          <a:prstGeom prst="roundRect">
            <a:avLst>
              <a:gd name="adj" fmla="val 2201"/>
            </a:avLst>
          </a:prstGeom>
          <a:solidFill>
            <a:srgbClr val="FAFAFA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306574" y="4349870"/>
            <a:ext cx="1431985" cy="23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7306574" y="4600036"/>
            <a:ext cx="14319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</a:t>
            </a:r>
            <a:endParaRPr lang="en-US" sz="600" dirty="0"/>
          </a:p>
        </p:txBody>
      </p:sp>
      <p:sp>
        <p:nvSpPr>
          <p:cNvPr id="39" name="Text 34"/>
          <p:cNvSpPr/>
          <p:nvPr/>
        </p:nvSpPr>
        <p:spPr>
          <a:xfrm>
            <a:off x="7306574" y="4720806"/>
            <a:ext cx="143198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JWT 인증 (HS256)</a:t>
            </a:r>
            <a:pPr algn="ctr" indent="0" marL="0">
              <a:buNone/>
            </a:pPr>
            <a:endParaRPr lang="en-US" sz="600" dirty="0"/>
          </a:p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내부망 + VPN</a:t>
            </a:r>
            <a:endParaRPr lang="en-US" sz="600" dirty="0"/>
          </a:p>
        </p:txBody>
      </p:sp>
      <p:sp>
        <p:nvSpPr>
          <p:cNvPr id="40" name="Text 35"/>
          <p:cNvSpPr/>
          <p:nvPr/>
        </p:nvSpPr>
        <p:spPr>
          <a:xfrm>
            <a:off x="8791328" y="4927840"/>
            <a:ext cx="112143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700" dirty="0"/>
          </a:p>
        </p:txBody>
      </p:sp>
      <p:sp>
        <p:nvSpPr>
          <p:cNvPr id="41" name="Text 36"/>
          <p:cNvSpPr/>
          <p:nvPr/>
        </p:nvSpPr>
        <p:spPr>
          <a:xfrm>
            <a:off x="480923" y="1274822"/>
            <a:ext cx="2708694" cy="69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생산관리 · 프로젝트 · 품질 · 원가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자산관리 · 특허관리 · 이슈관리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설계관리 · 자재관리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연동 (SQL Server 읽기전용)</a:t>
            </a:r>
            <a:endParaRPr lang="en-US" sz="781" dirty="0"/>
          </a:p>
        </p:txBody>
      </p:sp>
      <p:sp>
        <p:nvSpPr>
          <p:cNvPr id="42" name="Text 37"/>
          <p:cNvSpPr/>
          <p:nvPr/>
        </p:nvSpPr>
        <p:spPr>
          <a:xfrm>
            <a:off x="3671618" y="1274822"/>
            <a:ext cx="2251494" cy="69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멀티에이전트 대시보드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· 슬라이드 서빙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업로드/다운로드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(작업큐, 변환, 검색)</a:t>
            </a:r>
            <a:endParaRPr lang="en-US" sz="781" dirty="0"/>
          </a:p>
        </p:txBody>
      </p:sp>
      <p:sp>
        <p:nvSpPr>
          <p:cNvPr id="43" name="Text 38"/>
          <p:cNvSpPr/>
          <p:nvPr/>
        </p:nvSpPr>
        <p:spPr>
          <a:xfrm>
            <a:off x="6408348" y="1276507"/>
            <a:ext cx="2251494" cy="862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셋업 보고서 · 완료보고서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업무 이력 등록/관리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견적서 · 부품판매 서류작성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법인별 CS 재고관리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매뉴얼 검색 (RAG)</a:t>
            </a:r>
            <a:endParaRPr lang="en-US" sz="78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2026-04-06T11:26:39Z</dcterms:created>
  <dcterms:modified xsi:type="dcterms:W3CDTF">2026-04-06T11:26:39Z</dcterms:modified>
</cp:coreProperties>
</file>